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CC6B82-59FE-4CC1-89E0-9A8DEB3E15CA}">
  <a:tblStyle styleId="{DFCC6B82-59FE-4CC1-89E0-9A8DEB3E15C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d886b07965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g3d886b07965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g3d886b07965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d886b07965_2_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g3d886b07965_2_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d886b07965_2_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886b07965_2_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g3d886b07965_2_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d886b07965_2_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886b07965_2_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d886b07965_2_5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d886b07965_2_5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886b07965_2_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d886b07965_2_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d886b07965_2_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886b07965_2_1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d886b07965_2_11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886b07965_2_11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886b07965_2_1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886b07965_2_1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d886b07965_2_1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886b07965_2_1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d886b07965_2_1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d886b07965_2_1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886b07965_2_1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d886b07965_2_1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d886b07965_2_1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886b07965_2_1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886b07965_2_19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886b07965_2_19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886b07965_2_2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d886b07965_2_2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886b07965_2_2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886b07965_2_2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d886b07965_2_2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d886b07965_2_2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886b07965_2_2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d886b07965_2_26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d886b07965_2_26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886b07965_2_2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d886b07965_2_2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d886b07965_2_2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886b07965_2_2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d886b07965_2_2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d886b07965_2_2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886b07965_2_3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d886b07965_2_3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d886b07965_2_3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886b07965_2_3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d886b07965_2_3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d886b07965_2_3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886b07965_2_3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d886b07965_2_3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d886b07965_2_3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886b07965_2_3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d886b07965_2_36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d886b07965_2_36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886b07965_2_3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d886b07965_2_38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d886b07965_2_38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886b07965_2_3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d886b07965_2_3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d886b07965_2_3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886b07965_2_4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d886b07965_2_4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d886b07965_2_4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886b07965_2_4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d886b07965_2_4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d886b07965_2_4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886b07965_2_4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d886b07965_2_4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d886b07965_2_4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886b07965_2_48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d886b07965_2_48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d886b07965_2_48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d886b07965_2_5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3d886b07965_2_5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d886b07965_2_5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886b07965_2_5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g3d886b07965_2_5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d886b07965_2_5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886b07965_2_5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g3d886b07965_2_5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d886b07965_2_5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886b07965_2_6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d886b07965_2_6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d886b07965_2_61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886b07965_2_6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d886b07965_2_6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d886b07965_2_6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886b07965_2_6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d886b07965_2_6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d886b07965_2_6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d886b07965_2_6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g3d886b07965_2_6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d886b07965_2_6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d886b07965_2_7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g3d886b07965_2_7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d886b07965_2_7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d886b07965_2_7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3d886b07965_2_7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d886b07965_2_7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d886b07965_2_7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g3d886b07965_2_7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d886b07965_2_7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d886b07965_2_7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g3d886b07965_2_7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d886b07965_2_7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vi" sz="4000" u="none" cap="none" strike="noStrike">
                <a:solidFill>
                  <a:srgbClr val="FFFFFF"/>
                </a:solidFill>
              </a:rPr>
              <a:t>Cloud Infrastructure for AI</a:t>
            </a:r>
            <a:endParaRPr i="0" sz="4000" u="none" cap="none" strike="noStrike">
              <a:solidFill>
                <a:schemeClr val="dk1"/>
              </a:solidFill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i="1" lang="vi" sz="1800" u="none" cap="none" strike="noStrike">
                <a:solidFill>
                  <a:srgbClr val="CADCFC"/>
                </a:solidFill>
              </a:rPr>
              <a:t>AICB-P2T2 · Ngày 16 · Chương 4: Hạ Tầng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vi" sz="1400" u="none" cap="none" strike="noStrike">
                <a:solidFill>
                  <a:srgbClr val="CADCFC"/>
                </a:solidFill>
              </a:rPr>
              <a:t>Giảng viên </a:t>
            </a:r>
            <a:r>
              <a:rPr b="1" lang="vi">
                <a:solidFill>
                  <a:srgbClr val="CADCFC"/>
                </a:solidFill>
              </a:rPr>
              <a:t>Nguyễn Hải Dương</a:t>
            </a:r>
            <a:r>
              <a:rPr b="1" i="0" lang="vi" sz="1400" u="none" cap="none" strike="noStrike">
                <a:solidFill>
                  <a:srgbClr val="CADCFC"/>
                </a:solidFill>
              </a:rPr>
              <a:t>  ·  VinUniversity · Phase 2 · Track 2 · Tuần 4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457200" y="822960"/>
            <a:ext cx="8229600" cy="3383280"/>
          </a:xfrm>
          <a:prstGeom prst="rect">
            <a:avLst/>
          </a:prstGeom>
          <a:solidFill>
            <a:srgbClr val="142850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731520" y="914400"/>
            <a:ext cx="777240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i="1" lang="vi" sz="1700" u="none" cap="none" strike="noStrike">
                <a:solidFill>
                  <a:srgbClr val="FFFFFF"/>
                </a:solidFill>
              </a:rPr>
              <a:t>"Ai đã từng deploy model lên cloud?</a:t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i="1" lang="vi" sz="1700" u="none" cap="none" strike="noStrike">
                <a:solidFill>
                  <a:srgbClr val="FFFFFF"/>
                </a:solidFill>
              </a:rPr>
              <a:t>AWS? GCP? Azure? Local only?  </a:t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1" lang="vi" sz="1700" u="none" cap="none" strike="noStrike">
                <a:solidFill>
                  <a:srgbClr val="FFFFFF"/>
                </a:solidFill>
              </a:rPr>
              <a:t>Case study: </a:t>
            </a:r>
            <a:r>
              <a:rPr i="1" lang="vi" sz="1700" u="none" cap="none" strike="noStrike">
                <a:solidFill>
                  <a:srgbClr val="FFFFFF"/>
                </a:solidFill>
              </a:rPr>
              <a:t>Startup burn $50K/tháng GPU vì không optimize — right-size + spot instances, giảm còn $12K.</a:t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i="1" lang="vi" sz="1700" u="none" cap="none" strike="noStrike">
                <a:solidFill>
                  <a:srgbClr val="FFFFFF"/>
                </a:solidFill>
              </a:rPr>
              <a:t>Cloud native hay on-premise — quyết định nào phù hợp với stack AI của bạn?"</a:t>
            </a:r>
            <a:endParaRPr i="0" sz="1700" u="none" cap="none" strike="noStrike">
              <a:solidFill>
                <a:schemeClr val="dk1"/>
              </a:solidFill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i="1" lang="vi" sz="1100" u="none" cap="none" strike="noStrike">
                <a:solidFill>
                  <a:srgbClr val="94A3B8"/>
                </a:solidFill>
              </a:rPr>
              <a:t>Giữ câu hỏi này trong đầu suốt buổi học hôm nay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Nội Dung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365760" y="868680"/>
            <a:ext cx="384048" cy="38404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365760" y="868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vi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841248" y="88696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 sánh Cloud Providers cho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365760" y="1783080"/>
            <a:ext cx="384048" cy="384048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365760" y="1783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vi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841248" y="180136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 Foundation (IaaS/PaaS/AI-aaS)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365760" y="2697480"/>
            <a:ext cx="384048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365760" y="2697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vi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841248" y="271576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GPU Instance Types &amp; Chi phí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365760" y="3611880"/>
            <a:ext cx="384048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365760" y="36118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vi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841248" y="363016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Terraform IaC cho AI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754880" y="868680"/>
            <a:ext cx="384048" cy="38404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4754880" y="868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vi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230368" y="88696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Docker → Kubernetes cho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754880" y="1783080"/>
            <a:ext cx="384048" cy="38404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754880" y="1783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vi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230368" y="180136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Networking &amp; Storage 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754880" y="2697480"/>
            <a:ext cx="384048" cy="384048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754880" y="2697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vi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230368" y="271576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 Infrastructure 8 Layers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754880" y="3611880"/>
            <a:ext cx="384048" cy="38404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754880" y="36118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vi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230368" y="3630168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Serving Stack (vLLM/SGLang)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365760" y="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Mục Tiêu Buổi Học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0" y="4846320"/>
            <a:ext cx="9144000" cy="54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Giảng viên (VinUni) AICB · Ngày 16 Tuần 4</a:t>
            </a:r>
            <a:endParaRPr b="0" sz="80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8229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libri"/>
              <a:buNone/>
            </a:pPr>
            <a:r>
              <a:rPr b="1" i="0" lang="vi" sz="1400" u="none" cap="none" strike="noStrike">
                <a:solidFill>
                  <a:srgbClr val="1B3A6B"/>
                </a:solidFill>
              </a:rPr>
              <a:t>Sau buổi học này, bạn sẽ có thể: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051560" y="1325880"/>
            <a:ext cx="7498200" cy="4572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1188720" y="1325880"/>
            <a:ext cx="7315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Lựa chọn cloud provider phù hợp với AI workload cụ thể</a:t>
            </a:r>
            <a:endParaRPr b="0" sz="14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57200" y="2130552"/>
            <a:ext cx="457200" cy="45720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457200" y="2130552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1051560" y="2130552"/>
            <a:ext cx="7498200" cy="4572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1188720" y="2130552"/>
            <a:ext cx="7315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Thiết kế GPU compute environment tối ưu chi phí</a:t>
            </a:r>
            <a:endParaRPr b="0" sz="14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57200" y="2935224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457200" y="2935224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051560" y="2935224"/>
            <a:ext cx="7498200" cy="4572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1188720" y="2935224"/>
            <a:ext cx="7315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Triển khai container orchestration cho AI serving</a:t>
            </a:r>
            <a:endParaRPr b="0" sz="14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3739896"/>
            <a:ext cx="457200" cy="4572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57200" y="3739896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051560" y="3739896"/>
            <a:ext cx="7498200" cy="4572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188720" y="3739896"/>
            <a:ext cx="7315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vi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Deploy AI endpoint production-ready trên cloud</a:t>
            </a:r>
            <a:endParaRPr b="0" sz="14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57200" y="4572000"/>
            <a:ext cx="8229600" cy="201300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548640" y="4572000"/>
            <a:ext cx="80466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vi" sz="700">
                <a:solidFill>
                  <a:srgbClr val="1B3A6B"/>
                </a:solidFill>
                <a:latin typeface="Arial"/>
                <a:ea typeface="Arial"/>
                <a:cs typeface="Arial"/>
                <a:sym typeface="Arial"/>
              </a:rPr>
              <a:t>Cloud providers → GPU analysis → Terraform IaC → K8s → AI Serving Stack → Demo</a:t>
            </a:r>
            <a:endParaRPr b="0" i="1" sz="700">
              <a:solidFill>
                <a:srgbClr val="1B3A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Deliverable Cuối Ngày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548640" y="82296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vi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AI environment running + cost estimate + agent endpoint 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1097280" y="1371600"/>
            <a:ext cx="7498080" cy="50292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1234440" y="1371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 environment (AWS/GCP) đã setup với IAM least-privilege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097280" y="2103120"/>
            <a:ext cx="7498080" cy="50292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1234440" y="21031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GPU instance deployed trong private VPC qua Terraform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097280" y="2834640"/>
            <a:ext cx="7498080" cy="50292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1234440" y="28346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vLLM/SGLang endpoint chạy model inference thành công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097280" y="3566160"/>
            <a:ext cx="7498080" cy="50292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1234440" y="35661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vi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Cost dashboard screenshot + cost estimate document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57200" y="1409743"/>
            <a:ext cx="457200" cy="4572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457200" y="1409743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79500" y="2142052"/>
            <a:ext cx="457200" cy="45720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79500" y="2142052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57200" y="2874349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57200" y="2874349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79500" y="3589009"/>
            <a:ext cx="457200" cy="4572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79500" y="3589009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vi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417320" y="777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vi" sz="3000" u="none" cap="none" strike="noStrike">
                <a:solidFill>
                  <a:srgbClr val="FFFFFF"/>
                </a:solidFill>
              </a:rPr>
              <a:t>So Sánh Cloud Providers cho AI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57200" y="1828800"/>
            <a:ext cx="8229600" cy="3657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1.  AWS vs GCP vs Azure: strengths, GPU flagships, và khi nào chọn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2.  Vietnam cloud options: Viettel, VNG, FPT — data residency compliance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3.  Specialized GPU clouds: Lambda, RunPod, CoreWeave — rẻ hơn 40-70%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4.  Multi-cloud strategy &amp; decision framework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Cloud Providers cho AI Workloads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9"/>
          <p:cNvGraphicFramePr/>
          <p:nvPr/>
        </p:nvGraphicFramePr>
        <p:xfrm>
          <a:off x="36576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{DFCC6B82-59FE-4CC1-89E0-9A8DEB3E15CA}</a:tableStyleId>
              </a:tblPr>
              <a:tblGrid>
                <a:gridCol w="1188725"/>
                <a:gridCol w="1920250"/>
                <a:gridCol w="2834650"/>
                <a:gridCol w="246887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vi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vi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 Flagship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vi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Điểm Mạnh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vi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Khi Nào Chọn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P5 (H100 8x), P5e (H200)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Ecosystem rộng nhất, Bedrock, SageMaker HyperPod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Broadest ecosystem + enterprise compliance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GCP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A3 Mega (H100 8x), TPU v5p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PyTorch/JAX, GKE GPU auto-provisioning, Vertex AI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Heavy PyTorch training + TPU interest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ND H100 v5, ND H200 v5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 Service exclusive, Prompt Flow LLMOps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Microsoft stack + OpenAI API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VN Cloud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T4/V100 (Viettel, VNG, FPT)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Giá 60–70% global, data residency NĐ13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Compliance </a:t>
                      </a:r>
                      <a:r>
                        <a:rPr lang="vi" sz="100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ND13</a:t>
                      </a: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data residency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Specialized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H100/H200 (Lambda, RunPod)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Rẻ hơn 40–70%, pure GPU, GMI Cloud $2.10/hr H100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Cost-sensitive + team có infra skills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9"/>
          <p:cNvSpPr/>
          <p:nvPr/>
        </p:nvSpPr>
        <p:spPr>
          <a:xfrm>
            <a:off x="365760" y="466344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vi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Chọn dựa trên: workload type × budget × compliance × latency requirements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Decision Framework: Chọn Cloud Nào?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955100" y="960175"/>
            <a:ext cx="1144800" cy="685800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lang="vi" sz="9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Cần broadest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lang="vi" sz="9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ecosystem?</a:t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2926076" y="1005850"/>
            <a:ext cx="1144800" cy="640200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lang="vi" sz="9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Heavy PyTorch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lang="vi" sz="9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+ TPU?</a:t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4937753" y="1005850"/>
            <a:ext cx="1174200" cy="685800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lang="vi" sz="9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lang="vi" sz="9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exclusive?</a:t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7216473" y="983050"/>
            <a:ext cx="1269300" cy="685800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lang="vi" sz="9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VN 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00"/>
              <a:buFont typeface="Calibri"/>
              <a:buNone/>
            </a:pPr>
            <a:r>
              <a:rPr b="1" lang="vi" sz="9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residency?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777240" y="2331720"/>
            <a:ext cx="1920240" cy="5943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777240" y="23317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vi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2788920" y="2331720"/>
            <a:ext cx="1920240" cy="5943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2788920" y="23317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vi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GCP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4800600" y="2331720"/>
            <a:ext cx="1920240" cy="59436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4800600" y="23317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vi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6812280" y="2331720"/>
            <a:ext cx="1920240" cy="59436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6812280" y="233172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vi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Viettel/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vi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VNG/FPT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234500" y="1828800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vi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1" i="0" lang="vi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vi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ó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2186900" y="1188700"/>
            <a:ext cx="73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Không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3253980" y="1828838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vi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Có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235210" y="1188730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Không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312510" y="1851638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vi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1" i="0" lang="vi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0" lang="vi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ó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302077" y="1188730"/>
            <a:ext cx="9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Không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7605265" y="1840238"/>
            <a:ext cx="73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vi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Có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365760" y="3108960"/>
            <a:ext cx="8412480" cy="1417320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365760" y="3108960"/>
            <a:ext cx="73152" cy="141732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548640" y="3200400"/>
            <a:ext cx="8046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vi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Lưu ý: </a:t>
            </a:r>
            <a:r>
              <a:rPr b="0" i="0" lang="vi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Nhiều tổ chức dùng </a:t>
            </a:r>
            <a:r>
              <a:rPr b="1" i="0" lang="vi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multi-cloud</a:t>
            </a:r>
            <a:r>
              <a:rPr b="0" i="0" lang="vi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— training ở provider A (GPU rẻ nhất), serving ở provider B (latency tốt nhất), data ở provider C (compliance). Cần abstraction layer (Terraform/Pulumi) để portable.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Vietnam Cloud &amp; Specialized GPU Providers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365760" y="804672"/>
            <a:ext cx="3977640" cy="187452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365760" y="804672"/>
            <a:ext cx="3977640" cy="34747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457200" y="804672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Vietnam Cloud Options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57200" y="1170432"/>
            <a:ext cx="3794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Viettel Cloud: GPU T4/V100, giá ~60-70% global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VNG Cloud: đang build GPU capacity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FPT Cloud: data residency compliance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Ưu điểm: NĐ13/PDPD data residency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Limitation: chưa có H100/H200, limited AZ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4572000" y="804672"/>
            <a:ext cx="4160520" cy="187452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4572000" y="804672"/>
            <a:ext cx="4160520" cy="34747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4663440" y="804672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 GPU Clouds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4663440" y="1170432"/>
            <a:ext cx="39776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Lambda Cloud: H100 @ $2.49/hr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GMI Cloud: H100 @ $2.10/hr (cheapest!)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RunPod: H100 @ $3.35/hr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CoreWeave: dedicated GPU clusters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Rẻ hơn 40–70% vs hyperscalers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365760" y="2834640"/>
            <a:ext cx="8366760" cy="16916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365760" y="2834640"/>
            <a:ext cx="8366760" cy="3474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457200" y="2834640"/>
            <a:ext cx="8183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⚖️  Trade-offs &amp; Khi Nào Dùng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57200" y="3200400"/>
            <a:ext cx="8183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●"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Phù hợp: cost-sensitive teams, pure GPU workloads, team có infra skills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●"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Hạn chế: ít managed services, tự manage hơn, ít availability zones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●"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Rule: Specialized cloud cho training (cost), hyperscaler cho serving (managed scale + SLA)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vi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1417320" y="777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vi" sz="3000" u="none" cap="none" strike="noStrike">
                <a:solidFill>
                  <a:srgbClr val="FFFFFF"/>
                </a:solidFill>
              </a:rPr>
              <a:t>Cloud Foundation cho AI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457200" y="1828800"/>
            <a:ext cx="8229600" cy="3657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1.  IaaS / PaaS / AI-aaS: phân biệt và khi nào dùng gì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2.  Cloud-Native vs Cloud-Hosted: hybrid approach cho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3.  Shared Responsibility Model trong AI context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4.  Landing Zone: account structure, networking, guardrails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Mô Hình Cloud cho AI Workloads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365760" y="822960"/>
            <a:ext cx="1097280" cy="6583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365760" y="82296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vi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AI-aaS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1600200" y="822960"/>
            <a:ext cx="4663440" cy="65836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1691640" y="822960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vi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OpenAI API / Bedrock / Vertex AI  (pay-per-token)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6400800" y="822960"/>
            <a:ext cx="2331720" cy="658368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6492240" y="822960"/>
            <a:ext cx="2148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b="0" i="1" lang="vi" sz="10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Nhanh nhất, không cần infra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365760" y="1709928"/>
            <a:ext cx="1097280" cy="658368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3"/>
          <p:cNvSpPr/>
          <p:nvPr/>
        </p:nvSpPr>
        <p:spPr>
          <a:xfrm>
            <a:off x="365760" y="1709928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vi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1600200" y="1709928"/>
            <a:ext cx="4663440" cy="65836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1691640" y="1709928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vi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SageMaker / Azure ML / AI Platform  (managed training + serving)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400800" y="1709928"/>
            <a:ext cx="2331720" cy="658368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6492240" y="1709928"/>
            <a:ext cx="2148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b="0" i="1" lang="vi" sz="10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Managed scaling, ít 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365760" y="2596896"/>
            <a:ext cx="109728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365760" y="2596896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vi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1600200" y="2596896"/>
            <a:ext cx="4663440" cy="65836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1691640" y="2596896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vi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EC2 GPU / GCE / Azure VM  (full control, self-manage)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6400800" y="2596896"/>
            <a:ext cx="2331720" cy="658368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6492240" y="2596896"/>
            <a:ext cx="2148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b="0" i="1" lang="vi" sz="10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Full GPU control, cần ops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365760" y="3483864"/>
            <a:ext cx="1097280" cy="65836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365760" y="3483864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vi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1600200" y="3483864"/>
            <a:ext cx="4663440" cy="65836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1691640" y="3483864"/>
            <a:ext cx="4480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vi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On-premise / Colocation  (max control, max effort)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400800" y="3483864"/>
            <a:ext cx="2331720" cy="658368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6492240" y="3483864"/>
            <a:ext cx="2148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b="0" i="1" lang="vi" sz="10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Max control, max effort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365760" y="4572000"/>
            <a:ext cx="8412480" cy="201168"/>
          </a:xfrm>
          <a:prstGeom prst="rect">
            <a:avLst/>
          </a:prstGeom>
          <a:solidFill>
            <a:srgbClr val="FEF9C3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457200" y="457200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vi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💡 AI thường hybrid: Training dùng IaaS (GPU control) → Serving dùng PaaS (managed scaling) → Prototype dùng AI-aaS (nhanh nhất)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Shared Responsibility &amp; Landing Zone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365760" y="804672"/>
            <a:ext cx="3977640" cy="20574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365760" y="804672"/>
            <a:ext cx="397764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457200" y="804672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Provider chịu trách nhiệm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57200" y="1170432"/>
            <a:ext cx="37947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Physical infrastructure + hypervisor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Network backbone &amp; DDoS protection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Hardware maintenance &amp; availability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480560" y="804672"/>
            <a:ext cx="4251960" cy="20574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"/>
          <p:cNvSpPr/>
          <p:nvPr/>
        </p:nvSpPr>
        <p:spPr>
          <a:xfrm>
            <a:off x="4480560" y="804672"/>
            <a:ext cx="4251960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4572000" y="804672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bạn chịu trách nhiệm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4572000" y="1170432"/>
            <a:ext cx="4069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Model security + data encryption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Access control (IAM least-privilege)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Prompt injection prevention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Data privacy compliance (NĐ13, GDPR)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365760" y="3017520"/>
            <a:ext cx="8366760" cy="153619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365760" y="3017520"/>
            <a:ext cx="836676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457200" y="3017520"/>
            <a:ext cx="8183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Landing Zone — Setup đúng từ đầu (rework cost 10x!)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457200" y="3383280"/>
            <a:ext cx="818388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Account structure: workload accounts, shared services, security account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Networking: Transit Gateway hub-spoke topology, private subnets cho GPU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Centralized logging: CloudTrail + CloudWatch aggregation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Guardrails: SCPs (Service Control Policies) — enforce security 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vi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1417320" y="777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vi" sz="3000" u="none" cap="none" strike="noStrike">
                <a:solidFill>
                  <a:srgbClr val="FFFFFF"/>
                </a:solidFill>
              </a:rPr>
              <a:t>GPU Instance Types &amp; Chi Phí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457200" y="1828800"/>
            <a:ext cx="8229600" cy="3657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1.  GPU pricing 2026: T4, L40S, A100, H100, H200, B200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2.  GPU Selection Decision Tree theo task + model size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3.  MIG (Multi-Instance GPU) — maximize utilization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4.  Cost strategy: Spot/Preemptible vs Reserved vs On-demand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GPU Pricing 2026 &amp; So Sánh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3" name="Google Shape;273;p16"/>
          <p:cNvGraphicFramePr/>
          <p:nvPr/>
        </p:nvGraphicFramePr>
        <p:xfrm>
          <a:off x="365760" y="804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{DFCC6B82-59FE-4CC1-89E0-9A8DEB3E15CA}</a:tableStyleId>
              </a:tblPr>
              <a:tblGrid>
                <a:gridCol w="1371600"/>
                <a:gridCol w="1554475"/>
                <a:gridCol w="1463050"/>
                <a:gridCol w="1554475"/>
                <a:gridCol w="2468875"/>
              </a:tblGrid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VRAM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Giá/hr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Bandwidth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GB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320 GB/s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Inference nhỏ (≤7B)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L40S  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 GB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$0.40–0.86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864 GB/s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Inference vừa — sleeper pick!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9DB"/>
                    </a:solidFill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A10G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 GB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 GB/s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Inference production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 GB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$1.79–2.70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TB/s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Fine-tuning (giảm từ $3.0)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 GB HBM3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$2.99–4.31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3.35 TB/s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Pre-training (giảm từ $8.0!)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H200  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 GB HBM3e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$3.72–5.58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4.8 TB/s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70B single GPU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B200  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192 GB HBM3e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$6.84–8.64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TB/s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Ultra-scale, limited avail.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274" name="Google Shape;274;p16"/>
          <p:cNvSpPr/>
          <p:nvPr/>
        </p:nvSpPr>
        <p:spPr>
          <a:xfrm>
            <a:off x="365760" y="466344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vi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 of thumb: inference → T4/L40S/A10G  |  fine-tuning → A100  |  pre-training → H100 cluster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GPU Selection Decision Tree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3429000" y="777240"/>
            <a:ext cx="2286000" cy="502920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7"/>
          <p:cNvSpPr/>
          <p:nvPr/>
        </p:nvSpPr>
        <p:spPr>
          <a:xfrm>
            <a:off x="3429000" y="77724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vi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Tác vụ?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457200" y="1508760"/>
            <a:ext cx="2286000" cy="4114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"/>
          <p:cNvSpPr/>
          <p:nvPr/>
        </p:nvSpPr>
        <p:spPr>
          <a:xfrm>
            <a:off x="457200" y="1508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3429000" y="1508760"/>
            <a:ext cx="2286000" cy="41148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/>
          <p:cNvSpPr/>
          <p:nvPr/>
        </p:nvSpPr>
        <p:spPr>
          <a:xfrm>
            <a:off x="3429000" y="1508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6400800" y="1508760"/>
            <a:ext cx="2286000" cy="4114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6400800" y="1508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Pre-train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182880" y="2331720"/>
            <a:ext cx="868680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/>
          <p:cNvSpPr/>
          <p:nvPr/>
        </p:nvSpPr>
        <p:spPr>
          <a:xfrm>
            <a:off x="182880" y="2331720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≤13B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182880" y="2788920"/>
            <a:ext cx="868680" cy="43891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"/>
          <p:cNvSpPr/>
          <p:nvPr/>
        </p:nvSpPr>
        <p:spPr>
          <a:xfrm>
            <a:off x="182880" y="2788920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vi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L40S / T4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vi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$0.35–0.86/hr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1143000" y="2331720"/>
            <a:ext cx="868680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1143000" y="2331720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13B–70B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1143000" y="2788920"/>
            <a:ext cx="868680" cy="438912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1143000" y="2788920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vi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A100 / H100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vi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$1.79–4.31/hr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2103120" y="2331720"/>
            <a:ext cx="868680" cy="347472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2103120" y="2331720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70B+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2103120" y="2788920"/>
            <a:ext cx="868680" cy="4389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2103120" y="2788920"/>
            <a:ext cx="868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vi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H200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vi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$3.72–5.58/hr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3429000" y="2331720"/>
            <a:ext cx="2286000" cy="896112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3429000" y="233172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A100 / H100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$1.79–4.31/hr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6400800" y="2331720"/>
            <a:ext cx="2286000" cy="89611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6400800" y="233172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H100 / H200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(8× nodes)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365760" y="3474720"/>
            <a:ext cx="8412480" cy="1024128"/>
          </a:xfrm>
          <a:prstGeom prst="rect">
            <a:avLst/>
          </a:prstGeom>
          <a:solidFill>
            <a:srgbClr val="FFF9DB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"/>
          <p:cNvSpPr/>
          <p:nvPr/>
        </p:nvSpPr>
        <p:spPr>
          <a:xfrm>
            <a:off x="365760" y="3474720"/>
            <a:ext cx="73152" cy="102412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Cost Strategy: </a:t>
            </a:r>
            <a:r>
              <a:rPr b="0" i="0" lang="vi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Spot/Preemptible (tiết kiệm 60–70%) cho training jobs (interruptible). Reserved 1-year (giảm 40%) cho serving ổn định.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vi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Ví dụ thực tế: GPT-2 1B token fine-tune → A100 on-demand=$45 | Spot=$14 | Reserved=$27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GPU Instance Families — Dùng Dòng Nào?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0" name="Google Shape;320;p18"/>
          <p:cNvGraphicFramePr/>
          <p:nvPr/>
        </p:nvGraphicFramePr>
        <p:xfrm>
          <a:off x="365760" y="804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{DFCC6B82-59FE-4CC1-89E0-9A8DEB3E15CA}</a:tableStyleId>
              </a:tblPr>
              <a:tblGrid>
                <a:gridCol w="1645925"/>
                <a:gridCol w="1554475"/>
                <a:gridCol w="2286000"/>
                <a:gridCol w="2926075"/>
              </a:tblGrid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Family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Khi Nào Dùng?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Tác Vụ AI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 P5 / P5e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H100 8x / H200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Multi-GPU training cluster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Pre-train, large fine-tune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 G5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A10G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Inference production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Serving ≤13B models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GCP A3 Mega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H100 8x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Distributed training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PyTorch DDP, DeepSpeed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GCP A3 Ultra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H200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Memory-intensive training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70B+ single-node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GCP TPU v5p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TPU v5p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JAX/XLA large-scale training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Massive-scale pre-train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 ND H100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H100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 fine-tuning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 ML pipelines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42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 ND H200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H200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High-memory inference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vi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model serving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18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Calibri"/>
              <a:buNone/>
            </a:pPr>
            <a:r>
              <a:rPr b="0" i="0" lang="vi" sz="95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⚡ Karpenter (AWS): auto-provision đúng GPU type theo pod request  |  NAP (GCP): smarter Cluster Autoscaler  |  Scale-to-zero ngoài giờ: tiết kiệm 60%+ GPU idle cost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MIG, L40S &amp; B200 — Advanced GPU Insights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365760" y="804672"/>
            <a:ext cx="2606040" cy="19202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365760" y="804672"/>
            <a:ext cx="2606040" cy="347472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457200" y="80467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MIG (Multi-Instance GPU)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457200" y="1170432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A100/H100 chia tối đa 7 instances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1× A100 80GB → 7× 10GB instances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Isolated cho small model inference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Maximize utilization, serve nhiều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Dùng khi: nhiều small models song song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3154680" y="804672"/>
            <a:ext cx="2606040" cy="19202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3154680" y="804672"/>
            <a:ext cx="260604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3246120" y="80467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L40S — Sleeper Pick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3246120" y="1170432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48GB VRAM, Ada Lovelace arch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FP8 Transformer Engine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Giá: $0.40–0.86/hr (3–5× rẻ hơn H100)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Throughput competitive cho ≤48GB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Ideal: production inference small/medium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5943600" y="804672"/>
            <a:ext cx="2788920" cy="19202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5943600" y="804672"/>
            <a:ext cx="2788920" cy="34747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6035040" y="804672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B200 Blackwell (2026)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6035040" y="1170432"/>
            <a:ext cx="26060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192GB HBM3e, 8 TB/s bandwidth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Native FP4 support (mới)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11–15× inference vs H100 (promise)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Giá: $6.84–8.64/hr (ramp-up 2026)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Early adopter premium, stabilize ~20-30% trên H200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365760" y="2880360"/>
            <a:ext cx="8366760" cy="1554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9"/>
          <p:cNvSpPr/>
          <p:nvPr/>
        </p:nvSpPr>
        <p:spPr>
          <a:xfrm>
            <a:off x="365760" y="2880360"/>
            <a:ext cx="836676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457200" y="2880360"/>
            <a:ext cx="8183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Reserved vs Spot — Decision 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457200" y="3246120"/>
            <a:ext cx="8183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&lt; 6 tháng → Spot/On-demand (linh hoạt, no commitment)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6–12 tháng → 1-year Reserved: tiết kiệm 30–40%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&gt; 12 tháng → 3-year Reserved: tiết kiệm 50–60%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Training (interruptible) → Spot  |  Serving (stability needed) → Reserved  |  ROI dương sau ~6 tháng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vi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1417320" y="777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vi" sz="3000" u="none" cap="none" strike="noStrike">
                <a:solidFill>
                  <a:srgbClr val="FFFFFF"/>
                </a:solidFill>
              </a:rPr>
              <a:t>Terraform Infrastructure-as-Code AI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457200" y="1828800"/>
            <a:ext cx="8229600" cy="3657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1.  Terraform modules cho GPU instances, VPC, security groups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2.  State management: S3 backend + DynamoDB lock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3.  Workspaces: dev / staging / prod isolation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4.  Alternatives: Pulumi (Python/TS), OpenTofu, AWS CDK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Terraform cho AI Stack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365760" y="804672"/>
            <a:ext cx="4937760" cy="32461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502920" y="86868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nsolas"/>
              <a:buNone/>
            </a:pPr>
            <a:r>
              <a:rPr b="0" i="0" lang="vi" sz="1050" u="none" cap="none" strike="noStrike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resource </a:t>
            </a:r>
            <a:r>
              <a:rPr b="0" i="0" lang="vi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"aws_instance" "gpu" {</a:t>
            </a:r>
            <a:br>
              <a:rPr b="0" i="0" lang="vi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vi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instance_type</a:t>
            </a:r>
            <a:r>
              <a:rPr b="0" i="0" lang="vi" sz="105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= "g5.xlarge"</a:t>
            </a:r>
            <a:br>
              <a:rPr b="0" i="0" lang="vi" sz="105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vi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ami</a:t>
            </a:r>
            <a:r>
              <a:rPr b="0" i="0" lang="vi" sz="105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= "ami-nvidia-cuda-12"</a:t>
            </a:r>
            <a:br>
              <a:rPr b="0" i="0" lang="vi" sz="105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vi" sz="105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vi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root_block_device {</a:t>
            </a:r>
            <a:br>
              <a:rPr b="0" i="0" lang="vi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vi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volume_size</a:t>
            </a:r>
            <a:r>
              <a:rPr b="0" i="0" lang="vi" sz="1050" u="none" cap="none" strike="noStrike">
                <a:solidFill>
                  <a:srgbClr val="FDA4AF"/>
                </a:solidFill>
                <a:latin typeface="Consolas"/>
                <a:ea typeface="Consolas"/>
                <a:cs typeface="Consolas"/>
                <a:sym typeface="Consolas"/>
              </a:rPr>
              <a:t> = 200</a:t>
            </a:r>
            <a:br>
              <a:rPr b="0" i="0" lang="vi" sz="1050" u="none" cap="none" strike="noStrike">
                <a:solidFill>
                  <a:srgbClr val="FDA4A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vi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volume_type</a:t>
            </a:r>
            <a:r>
              <a:rPr b="0" i="0" lang="vi" sz="105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= "gp3"</a:t>
            </a:r>
            <a:br>
              <a:rPr b="0" i="0" lang="vi" sz="105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vi" sz="105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br>
              <a:rPr b="0" i="0" lang="vi" sz="105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vi" sz="105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vi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tags = { Name = </a:t>
            </a:r>
            <a:r>
              <a:rPr b="0" i="0" lang="vi" sz="105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"ai-inference" </a:t>
            </a:r>
            <a:r>
              <a:rPr b="0" i="0" lang="vi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vi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5486400" y="804672"/>
            <a:ext cx="3246120" cy="14630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1"/>
          <p:cNvSpPr/>
          <p:nvPr/>
        </p:nvSpPr>
        <p:spPr>
          <a:xfrm>
            <a:off x="5486400" y="804672"/>
            <a:ext cx="324612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5577840" y="804672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Infrastructure Setup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5577840" y="1170432"/>
            <a:ext cx="3063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VPC: private subnet cho GPU, public cho LB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Security groups: 8080 (API), 6443 (K8s), 22 (SSH jump)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S3 backend + DynamoDB lock (team env)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Workspaces: dev / staging / prod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5486400" y="2377440"/>
            <a:ext cx="3246120" cy="16916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1"/>
          <p:cNvSpPr/>
          <p:nvPr/>
        </p:nvSpPr>
        <p:spPr>
          <a:xfrm>
            <a:off x="5486400" y="2377440"/>
            <a:ext cx="324612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5577840" y="2377440"/>
            <a:ext cx="3063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Alternatives to Terraform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5577840" y="2743200"/>
            <a:ext cx="3063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Pulumi: Python/TypeScript native — popular với AI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OpenTofu: open-source fork (post HashiCorp BSL 2023)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AWS CDK: nếu pure AWS + TypeScript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Tip: Dùng modules để reuse, workspaces để isolate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vi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1417320" y="777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vi" sz="3000" u="none" cap="none" strike="noStrike">
                <a:solidFill>
                  <a:srgbClr val="FFFFFF"/>
                </a:solidFill>
              </a:rPr>
              <a:t>Container Orchestration: Docker → Kubernetes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457200" y="1828800"/>
            <a:ext cx="8229600" cy="3657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1.  Docker image optimization: multi-stage build 18GB → 6–8GB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2.  NVIDIA GPU Operator: tự động install drivers + toolkit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3.  Karpenter (AWS) / NAP (GCP): smart GPU node provisioning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4.  Init containers, namespaces, resource limits cho ML teams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Kubernetes Architecture cho AI Serving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396" name="Google Shape;396;p2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3200400" y="804672"/>
            <a:ext cx="2743200" cy="4572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3200400" y="80467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Ingress / ALB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365760" y="1417320"/>
            <a:ext cx="8412480" cy="2514600"/>
          </a:xfrm>
          <a:prstGeom prst="rect">
            <a:avLst/>
          </a:prstGeom>
          <a:solidFill>
            <a:srgbClr val="F0F4FF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457200" y="1463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A4"/>
              </a:buClr>
              <a:buSzPts val="900"/>
              <a:buFont typeface="Calibri"/>
              <a:buNone/>
            </a:pPr>
            <a:r>
              <a:rPr b="1" i="0" lang="vi" sz="900" u="none" cap="none" strike="noStrike">
                <a:solidFill>
                  <a:srgbClr val="2D5FA4"/>
                </a:solidFill>
                <a:latin typeface="Calibri"/>
                <a:ea typeface="Calibri"/>
                <a:cs typeface="Calibri"/>
                <a:sym typeface="Calibri"/>
              </a:rPr>
              <a:t>K8s Cluster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640080" y="1874520"/>
            <a:ext cx="2103120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640080" y="187452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vLLM Pod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GPU: 1 A10G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3200400" y="1874520"/>
            <a:ext cx="2103120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3200400" y="187452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vLLM Pod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GPU: 1 A10G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5943600" y="1874520"/>
            <a:ext cx="2103120" cy="6858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5943600" y="187452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SGLang Pod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GPU: 1 H100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640080" y="2743200"/>
            <a:ext cx="2103120" cy="594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640080" y="274320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GPU metrics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/>
          <p:nvPr/>
        </p:nvSpPr>
        <p:spPr>
          <a:xfrm>
            <a:off x="3200400" y="2743200"/>
            <a:ext cx="2103120" cy="5943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3200400" y="274320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GPU Operator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(NVIDIA)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5943600" y="2743200"/>
            <a:ext cx="2103120" cy="59436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5943600" y="274320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Karpenter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Auto-provision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3200400" y="4069080"/>
            <a:ext cx="2743200" cy="457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3200400" y="40690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vi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 Model Weights  (Init container pre-download)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Docker &amp; K8s Best Practices cho AI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365760" y="804672"/>
            <a:ext cx="3977640" cy="19202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365760" y="804672"/>
            <a:ext cx="3977640" cy="347472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457200" y="804672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Image Optimization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457200" y="1170432"/>
            <a:ext cx="37947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Base: nvcr.io/nvidia/cuda:12.1-runtime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Multi-stage build: 18GB → 6–8GB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Cache pip layer riêng (trước COPY source)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.dockerignore: exclude datasets, checkpoints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Result: cold start time giảm đáng kể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4480560" y="804672"/>
            <a:ext cx="4251960" cy="19202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4480560" y="804672"/>
            <a:ext cx="425196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4572000" y="804672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Kubernetes GPU Config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4572000" y="1170432"/>
            <a:ext cx="40690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nvidia.com/gpu: 1 — requests = limits (always!)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GPU Operator: auto install drivers, toolkit, plugin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Init container: pre-download weights từ S3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Karpenter (AWS) / NAP (GCP): smart provisioning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Scale-to-zero ngoài giờ cao điểm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365760" y="2880360"/>
            <a:ext cx="8366760" cy="1554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4"/>
          <p:cNvSpPr/>
          <p:nvPr/>
        </p:nvSpPr>
        <p:spPr>
          <a:xfrm>
            <a:off x="365760" y="2880360"/>
            <a:ext cx="836676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457200" y="2880360"/>
            <a:ext cx="8183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K8s Namespaces cho ML Teams — Best Practice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457200" y="3246120"/>
            <a:ext cx="81838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ml-training/  — separate resource quotas, cost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ml-serving/   — separate RBAC, production isolation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ml-experiments/ — sandbox, no strict limits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⚠️  NEVER overcommit GPU: fractional sharing phức tạp, dùng MIG thay vì overcommit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5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vi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1417320" y="777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vi" sz="3000" u="none" cap="none" strike="noStrike">
                <a:solidFill>
                  <a:srgbClr val="FFFFFF"/>
                </a:solidFill>
              </a:rPr>
              <a:t>Networking &amp; Storage Strategy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457200" y="1828800"/>
            <a:ext cx="8229600" cy="3657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5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1.  API Gateway patterns: rate limiting, streaming, timeout tuning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2.  Service Mesh (Istio/Linkerd): mTLS, canary routing, tracing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3.  GPU-to-GPU networking: NVLink 900 GB/s, InfiniBand 400 Gbps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4.  Storage tiering: Hot (Redis) → Warm (S3) → Cold → Archive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Networking cho AI Workloads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6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/>
          <p:nvPr/>
        </p:nvSpPr>
        <p:spPr>
          <a:xfrm>
            <a:off x="2743200" y="822960"/>
            <a:ext cx="3657600" cy="54864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2743200" y="8229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9" name="Google Shape;459;p26"/>
          <p:cNvCxnSpPr/>
          <p:nvPr/>
        </p:nvCxnSpPr>
        <p:spPr>
          <a:xfrm>
            <a:off x="4526280" y="137160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0" name="Google Shape;460;p26"/>
          <p:cNvSpPr/>
          <p:nvPr/>
        </p:nvSpPr>
        <p:spPr>
          <a:xfrm>
            <a:off x="2743200" y="1600200"/>
            <a:ext cx="3657600" cy="54864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2743200" y="160020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(Rate limit / Queue / SSE streaming)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2" name="Google Shape;462;p26"/>
          <p:cNvCxnSpPr/>
          <p:nvPr/>
        </p:nvCxnSpPr>
        <p:spPr>
          <a:xfrm>
            <a:off x="4526280" y="214884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26"/>
          <p:cNvSpPr/>
          <p:nvPr/>
        </p:nvSpPr>
        <p:spPr>
          <a:xfrm>
            <a:off x="2743200" y="2377440"/>
            <a:ext cx="3657600" cy="54864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2743200" y="237744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ALB / Ingress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365760" y="2926080"/>
            <a:ext cx="8412480" cy="105156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457200" y="2926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vi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Service Mesh (Istio / Linkerd)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594360" y="3337560"/>
            <a:ext cx="2194560" cy="54864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59436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3474720" y="3337560"/>
            <a:ext cx="2194560" cy="5486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6"/>
          <p:cNvSpPr/>
          <p:nvPr/>
        </p:nvSpPr>
        <p:spPr>
          <a:xfrm>
            <a:off x="347472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6355080" y="3337560"/>
            <a:ext cx="219456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635508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FFF9DB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6"/>
          <p:cNvSpPr/>
          <p:nvPr/>
        </p:nvSpPr>
        <p:spPr>
          <a:xfrm>
            <a:off x="502920" y="411480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⚡ GPU-to-GPU: NVLink 900 GB/s intra-node  |  InfiniBand 400 Gbps inter-node (multi-node training)  |  EFA (AWS) alternative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🔒 VPC Endpoints (PrivateLink): tránh traffic đi internet — bảo mật + tiết kiệm egress cost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Storage Strategy cho AI Systems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482" name="Google Shape;482;p27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365760" y="804672"/>
            <a:ext cx="1371600" cy="5943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365760" y="804672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1874520" y="804672"/>
            <a:ext cx="1920240" cy="5943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1874520" y="804672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Redis / GPU Memory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sub-ms latency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3931920" y="804672"/>
            <a:ext cx="4800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7"/>
          <p:cNvSpPr/>
          <p:nvPr/>
        </p:nvSpPr>
        <p:spPr>
          <a:xfrm>
            <a:off x="4069080" y="804672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Active KV cache, embedding cache, session state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365760" y="1554480"/>
            <a:ext cx="1371600" cy="59436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7"/>
          <p:cNvSpPr/>
          <p:nvPr/>
        </p:nvSpPr>
        <p:spPr>
          <a:xfrm>
            <a:off x="365760" y="1554480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1874520" y="1554480"/>
            <a:ext cx="1920240" cy="5943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7"/>
          <p:cNvSpPr/>
          <p:nvPr/>
        </p:nvSpPr>
        <p:spPr>
          <a:xfrm>
            <a:off x="1874520" y="1554480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S3 Standard / EBS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$0.023/GB/mo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3931920" y="1554480"/>
            <a:ext cx="4800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4069080" y="155448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weights, recent checkpoints, training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365760" y="2304288"/>
            <a:ext cx="1371600" cy="59436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7"/>
          <p:cNvSpPr/>
          <p:nvPr/>
        </p:nvSpPr>
        <p:spPr>
          <a:xfrm>
            <a:off x="365760" y="2304288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1874520" y="2304288"/>
            <a:ext cx="1920240" cy="5943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1874520" y="2304288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S3 Infrequent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$0.0125/GB/mo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3931920" y="2304288"/>
            <a:ext cx="4800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4069080" y="230428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Old checkpoints, infrequent datasets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365760" y="3054096"/>
            <a:ext cx="1371600" cy="59436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7"/>
          <p:cNvSpPr/>
          <p:nvPr/>
        </p:nvSpPr>
        <p:spPr>
          <a:xfrm>
            <a:off x="365760" y="3054096"/>
            <a:ext cx="1371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1874520" y="3054096"/>
            <a:ext cx="1920240" cy="5943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7"/>
          <p:cNvSpPr/>
          <p:nvPr/>
        </p:nvSpPr>
        <p:spPr>
          <a:xfrm>
            <a:off x="1874520" y="3054096"/>
            <a:ext cx="1920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S3 Glacier Deep Archive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$0.00099/GB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3931920" y="3054096"/>
            <a:ext cx="48006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7"/>
          <p:cNvSpPr/>
          <p:nvPr/>
        </p:nvSpPr>
        <p:spPr>
          <a:xfrm>
            <a:off x="4069080" y="3054096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Compliance data, model archaeology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365760" y="3858768"/>
            <a:ext cx="8366760" cy="8686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365760" y="3858768"/>
            <a:ext cx="836676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457200" y="3858768"/>
            <a:ext cx="8183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Storage Best Practices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457200" y="4224528"/>
            <a:ext cx="8183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S3 versioning cho model artifacts  |  Lifecycle policies: auto-archive sau 90 ngày  |  S3 Intelligent-Tiering cho mixed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8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8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vi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1417320" y="7772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vi" sz="3000" u="none" cap="none" strike="noStrike">
                <a:solidFill>
                  <a:srgbClr val="FFFFFF"/>
                </a:solidFill>
              </a:rPr>
              <a:t>Agent Infrastructure: 8 Production Layers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520" name="Google Shape;520;p28"/>
          <p:cNvSpPr/>
          <p:nvPr/>
        </p:nvSpPr>
        <p:spPr>
          <a:xfrm>
            <a:off x="457200" y="1828800"/>
            <a:ext cx="8229600" cy="3657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8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1.  Compute: GPU cho LLM inference, CPU cho orchestration, Serverless cho tools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2.  Message Queue: Redis Streams vs Kafka vs RabbitMQ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3.  Cache: L1 in-process LRU → L2 Redis → L3 Embedding cache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4.  Observability: OpenTelemetry, LangSmith, Prometheus KPIs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9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8 Layers của Production AI Agent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530" name="Google Shape;530;p29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9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9"/>
          <p:cNvSpPr/>
          <p:nvPr/>
        </p:nvSpPr>
        <p:spPr>
          <a:xfrm>
            <a:off x="365760" y="777240"/>
            <a:ext cx="384048" cy="4114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9"/>
          <p:cNvSpPr/>
          <p:nvPr/>
        </p:nvSpPr>
        <p:spPr>
          <a:xfrm>
            <a:off x="365760" y="777240"/>
            <a:ext cx="384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9"/>
          <p:cNvSpPr/>
          <p:nvPr/>
        </p:nvSpPr>
        <p:spPr>
          <a:xfrm>
            <a:off x="868680" y="777240"/>
            <a:ext cx="1417320" cy="411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9"/>
          <p:cNvSpPr/>
          <p:nvPr/>
        </p:nvSpPr>
        <p:spPr>
          <a:xfrm>
            <a:off x="886968" y="77724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Secrets &amp; Config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9"/>
          <p:cNvSpPr/>
          <p:nvPr/>
        </p:nvSpPr>
        <p:spPr>
          <a:xfrm>
            <a:off x="2423160" y="77724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Vault / AWS Secrets Manager, Feature flags cho A/B testing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9"/>
          <p:cNvSpPr/>
          <p:nvPr/>
        </p:nvSpPr>
        <p:spPr>
          <a:xfrm>
            <a:off x="365760" y="1261872"/>
            <a:ext cx="384048" cy="4114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9"/>
          <p:cNvSpPr/>
          <p:nvPr/>
        </p:nvSpPr>
        <p:spPr>
          <a:xfrm>
            <a:off x="365760" y="1261872"/>
            <a:ext cx="384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9"/>
          <p:cNvSpPr/>
          <p:nvPr/>
        </p:nvSpPr>
        <p:spPr>
          <a:xfrm>
            <a:off x="868680" y="1261872"/>
            <a:ext cx="1417320" cy="411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9"/>
          <p:cNvSpPr/>
          <p:nvPr/>
        </p:nvSpPr>
        <p:spPr>
          <a:xfrm>
            <a:off x="886968" y="1261872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Observability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9"/>
          <p:cNvSpPr/>
          <p:nvPr/>
        </p:nvSpPr>
        <p:spPr>
          <a:xfrm>
            <a:off x="2423160" y="126187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OpenTelemetry → Jaeger traces, LangSmith, Prometheus KPIs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9"/>
          <p:cNvSpPr/>
          <p:nvPr/>
        </p:nvSpPr>
        <p:spPr>
          <a:xfrm>
            <a:off x="365760" y="1746504"/>
            <a:ext cx="384048" cy="41148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9"/>
          <p:cNvSpPr/>
          <p:nvPr/>
        </p:nvSpPr>
        <p:spPr>
          <a:xfrm>
            <a:off x="365760" y="1746504"/>
            <a:ext cx="384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868680" y="1746504"/>
            <a:ext cx="1417320" cy="411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9"/>
          <p:cNvSpPr/>
          <p:nvPr/>
        </p:nvSpPr>
        <p:spPr>
          <a:xfrm>
            <a:off x="886968" y="1746504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A4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2D5FA4"/>
                </a:solidFill>
                <a:latin typeface="Calibri"/>
                <a:ea typeface="Calibri"/>
                <a:cs typeface="Calibri"/>
                <a:sym typeface="Calibri"/>
              </a:rPr>
              <a:t>Networking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9"/>
          <p:cNvSpPr/>
          <p:nvPr/>
        </p:nvSpPr>
        <p:spPr>
          <a:xfrm>
            <a:off x="2423160" y="1746504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Gateway, gRPC internal (high perf), HTTP+SSE (MCP transport)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9"/>
          <p:cNvSpPr/>
          <p:nvPr/>
        </p:nvSpPr>
        <p:spPr>
          <a:xfrm>
            <a:off x="365760" y="2231136"/>
            <a:ext cx="384048" cy="4114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9"/>
          <p:cNvSpPr/>
          <p:nvPr/>
        </p:nvSpPr>
        <p:spPr>
          <a:xfrm>
            <a:off x="365760" y="2231136"/>
            <a:ext cx="384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868680" y="2231136"/>
            <a:ext cx="1417320" cy="411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9"/>
          <p:cNvSpPr/>
          <p:nvPr/>
        </p:nvSpPr>
        <p:spPr>
          <a:xfrm>
            <a:off x="886968" y="2231136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9"/>
          <p:cNvSpPr/>
          <p:nvPr/>
        </p:nvSpPr>
        <p:spPr>
          <a:xfrm>
            <a:off x="2423160" y="2231136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PostgreSQL (conv history), pgvector (long-term), Redis (short-term TTL), S3 (tool outputs)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9"/>
          <p:cNvSpPr/>
          <p:nvPr/>
        </p:nvSpPr>
        <p:spPr>
          <a:xfrm>
            <a:off x="365760" y="2715768"/>
            <a:ext cx="384048" cy="41148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365760" y="2715768"/>
            <a:ext cx="384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868680" y="2715768"/>
            <a:ext cx="1417320" cy="411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886968" y="2715768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Cache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9"/>
          <p:cNvSpPr/>
          <p:nvPr/>
        </p:nvSpPr>
        <p:spPr>
          <a:xfrm>
            <a:off x="2423160" y="271576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L1 in-process LRU dict | L2 Redis shared (TTL) | L3 Embedding cache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365760" y="3200400"/>
            <a:ext cx="384048" cy="41148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9"/>
          <p:cNvSpPr/>
          <p:nvPr/>
        </p:nvSpPr>
        <p:spPr>
          <a:xfrm>
            <a:off x="365760" y="3200400"/>
            <a:ext cx="384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868680" y="3200400"/>
            <a:ext cx="1417320" cy="411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9"/>
          <p:cNvSpPr/>
          <p:nvPr/>
        </p:nvSpPr>
        <p:spPr>
          <a:xfrm>
            <a:off x="886968" y="32004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Message Queue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9"/>
          <p:cNvSpPr/>
          <p:nvPr/>
        </p:nvSpPr>
        <p:spPr>
          <a:xfrm>
            <a:off x="2423160" y="320040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Redis Streams (low latency) | Kafka (high throughput, replay) | RabbitMQ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9"/>
          <p:cNvSpPr/>
          <p:nvPr/>
        </p:nvSpPr>
        <p:spPr>
          <a:xfrm>
            <a:off x="365760" y="3685032"/>
            <a:ext cx="384048" cy="41148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9"/>
          <p:cNvSpPr/>
          <p:nvPr/>
        </p:nvSpPr>
        <p:spPr>
          <a:xfrm>
            <a:off x="365760" y="3685032"/>
            <a:ext cx="384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9"/>
          <p:cNvSpPr/>
          <p:nvPr/>
        </p:nvSpPr>
        <p:spPr>
          <a:xfrm>
            <a:off x="868680" y="3685032"/>
            <a:ext cx="1417320" cy="411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9"/>
          <p:cNvSpPr/>
          <p:nvPr/>
        </p:nvSpPr>
        <p:spPr>
          <a:xfrm>
            <a:off x="886968" y="3685032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A4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2D5FA4"/>
                </a:solidFill>
                <a:latin typeface="Calibri"/>
                <a:ea typeface="Calibri"/>
                <a:cs typeface="Calibri"/>
                <a:sym typeface="Calibri"/>
              </a:rPr>
              <a:t>Orchestration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9"/>
          <p:cNvSpPr/>
          <p:nvPr/>
        </p:nvSpPr>
        <p:spPr>
          <a:xfrm>
            <a:off x="2423160" y="368503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LangGraph / CrewAI / AutoGen on CPU pods — manages lifecycle &amp; retry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9"/>
          <p:cNvSpPr/>
          <p:nvPr/>
        </p:nvSpPr>
        <p:spPr>
          <a:xfrm>
            <a:off x="365760" y="4169664"/>
            <a:ext cx="384048" cy="41148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9"/>
          <p:cNvSpPr/>
          <p:nvPr/>
        </p:nvSpPr>
        <p:spPr>
          <a:xfrm>
            <a:off x="365760" y="4169664"/>
            <a:ext cx="384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9"/>
          <p:cNvSpPr/>
          <p:nvPr/>
        </p:nvSpPr>
        <p:spPr>
          <a:xfrm>
            <a:off x="868680" y="4169664"/>
            <a:ext cx="1417320" cy="4114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9"/>
          <p:cNvSpPr/>
          <p:nvPr/>
        </p:nvSpPr>
        <p:spPr>
          <a:xfrm>
            <a:off x="886968" y="4169664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b="1" i="0" lang="vi" sz="10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Compute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9"/>
          <p:cNvSpPr/>
          <p:nvPr/>
        </p:nvSpPr>
        <p:spPr>
          <a:xfrm>
            <a:off x="2423160" y="4169664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GPU (LLM inference agents) + CPU (orchestrator) + Serverless (tool-calling)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9"/>
          <p:cNvSpPr/>
          <p:nvPr/>
        </p:nvSpPr>
        <p:spPr>
          <a:xfrm>
            <a:off x="365760" y="470916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vi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Design principle: Stateless agents (externalize state → Redis/Postgres) cho horizontal scaling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0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Agent Infra: Chi Tiết Chọn Công Nghệ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365760" y="804672"/>
            <a:ext cx="3977640" cy="16002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0"/>
          <p:cNvSpPr/>
          <p:nvPr/>
        </p:nvSpPr>
        <p:spPr>
          <a:xfrm>
            <a:off x="365760" y="804672"/>
            <a:ext cx="397764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0"/>
          <p:cNvSpPr/>
          <p:nvPr/>
        </p:nvSpPr>
        <p:spPr>
          <a:xfrm>
            <a:off x="457200" y="804672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 Pattern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0"/>
          <p:cNvSpPr/>
          <p:nvPr/>
        </p:nvSpPr>
        <p:spPr>
          <a:xfrm>
            <a:off x="457200" y="1170432"/>
            <a:ext cx="3794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GPU chỉ cho agents chạy LLM — orchestrator không cần GPU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Pattern: supervisor agent (CPU) dispatches → specialist agent (GPU)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Serverless (Lambda) cho lightweight tool-calling agents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4480560" y="804672"/>
            <a:ext cx="4251960" cy="16002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0"/>
          <p:cNvSpPr/>
          <p:nvPr/>
        </p:nvSpPr>
        <p:spPr>
          <a:xfrm>
            <a:off x="4480560" y="804672"/>
            <a:ext cx="4251960" cy="3474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0"/>
          <p:cNvSpPr/>
          <p:nvPr/>
        </p:nvSpPr>
        <p:spPr>
          <a:xfrm>
            <a:off x="4572000" y="804672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Message Queue So Sánh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0"/>
          <p:cNvSpPr/>
          <p:nvPr/>
        </p:nvSpPr>
        <p:spPr>
          <a:xfrm>
            <a:off x="4572000" y="1170432"/>
            <a:ext cx="4069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Redis Streams: low latency (&lt;1ms), simple setup — best for most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Kafka: high throughput, durability, replay — large-scale agents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RabbitMQ: complex routing rules, dead letter queues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0"/>
          <p:cNvSpPr/>
          <p:nvPr/>
        </p:nvSpPr>
        <p:spPr>
          <a:xfrm>
            <a:off x="365760" y="2560320"/>
            <a:ext cx="3977640" cy="16916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0"/>
          <p:cNvSpPr/>
          <p:nvPr/>
        </p:nvSpPr>
        <p:spPr>
          <a:xfrm>
            <a:off x="365760" y="2560320"/>
            <a:ext cx="3977640" cy="347472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0"/>
          <p:cNvSpPr/>
          <p:nvPr/>
        </p:nvSpPr>
        <p:spPr>
          <a:xfrm>
            <a:off x="457200" y="2560320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Cache — Multi-Level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0"/>
          <p:cNvSpPr/>
          <p:nvPr/>
        </p:nvSpPr>
        <p:spPr>
          <a:xfrm>
            <a:off x="457200" y="2926080"/>
            <a:ext cx="3794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L1: in-process LRU dict (fastest, per-instance)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L2: Redis shared across agents (TTL-based)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L3: Embedding cache (avoid re-embed same queries)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Target: 60–80% cache hit rate → giảm LLM API calls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0"/>
          <p:cNvSpPr/>
          <p:nvPr/>
        </p:nvSpPr>
        <p:spPr>
          <a:xfrm>
            <a:off x="4480560" y="2560320"/>
            <a:ext cx="4251960" cy="16916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0"/>
          <p:cNvSpPr/>
          <p:nvPr/>
        </p:nvSpPr>
        <p:spPr>
          <a:xfrm>
            <a:off x="4480560" y="2560320"/>
            <a:ext cx="4251960" cy="34747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0"/>
          <p:cNvSpPr/>
          <p:nvPr/>
        </p:nvSpPr>
        <p:spPr>
          <a:xfrm>
            <a:off x="4572000" y="2560320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Observability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0"/>
          <p:cNvSpPr/>
          <p:nvPr/>
        </p:nvSpPr>
        <p:spPr>
          <a:xfrm>
            <a:off x="4572000" y="2926080"/>
            <a:ext cx="4069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OpenTelemetry → Jaeger: distributed traces across agents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LangSmith / Weave: LLM-specific tracing &amp; 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Prometheus KPIs: tasks/min, error rate, avg latency, cost/request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HashiCorp Vault / Secrets Manager: API keys, credentials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1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1"/>
          <p:cNvSpPr/>
          <p:nvPr/>
        </p:nvSpPr>
        <p:spPr>
          <a:xfrm>
            <a:off x="457200" y="8229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vi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1"/>
          <p:cNvSpPr/>
          <p:nvPr/>
        </p:nvSpPr>
        <p:spPr>
          <a:xfrm>
            <a:off x="1417325" y="777250"/>
            <a:ext cx="76077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vi" sz="3000" u="none" cap="none" strike="noStrike">
                <a:solidFill>
                  <a:srgbClr val="FFFFFF"/>
                </a:solidFill>
              </a:rPr>
              <a:t>AI Serving Stack: vLLM, SGLang &amp; More</a:t>
            </a:r>
            <a:endParaRPr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606" name="Google Shape;606;p31"/>
          <p:cNvSpPr/>
          <p:nvPr/>
        </p:nvSpPr>
        <p:spPr>
          <a:xfrm>
            <a:off x="457200" y="1828800"/>
            <a:ext cx="8229600" cy="3657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1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1.  6 serving engines 2026: vLLM, SGLang, LMDeploy, TensorRT-LLM, TGI, Ollama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2.  SGLang RadixAttention: KV cache reuse — multi-turn gain 10–20%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3.  LMDeploy TurboMind: 1.8× throughput vs vLLM (C++ zero overhead)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vi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4.  Deploy tips: GPU memory 80% safe zone, continuous batching always 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vi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6 Serving Engines 2026 — So Sánh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616" name="Google Shape;616;p32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8" name="Google Shape;618;p32"/>
          <p:cNvGraphicFramePr/>
          <p:nvPr/>
        </p:nvGraphicFramePr>
        <p:xfrm>
          <a:off x="365760" y="804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{DFCC6B82-59FE-4CC1-89E0-9A8DEB3E15CA}</a:tableStyleId>
              </a:tblPr>
              <a:tblGrid>
                <a:gridCol w="1280150"/>
                <a:gridCol w="2286000"/>
                <a:gridCol w="2926075"/>
                <a:gridCol w="1920250"/>
              </a:tblGrid>
              <a:tr h="542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Engine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Kỹ Thuật Chính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Ưu Điểm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vi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54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vLLM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PagedAttention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Ecosystem rộng nhất, OpenAI-compatible API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Broad compatibility, easy deploy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SGLang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RadixAttention + Prefill-Decode disaggregation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Multi-turn +20%, JSON 3× faster, 400K+ GPUs globally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Agents + multi-turn chat + structured output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54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LMDeploy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TurboMind engine (C++) — zero Python overhead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1.8× throughput vs vLLM, Int4 2.4× faster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Quantized models, latency-sensitive apps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TensorRT-LLM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NVIDIA optimized kernels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30–50% faster cho high concurrency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Ultra-scale production (Perplexity-level)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54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TGI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HuggingFace native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Quick deploy, Prometheus built-in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Prototype nhanh, HF model ecosystem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Ollama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llama.cpp backend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 + local dev, easy model switching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vi" sz="9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Edge / laptop inference / development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19" name="Google Shape;619;p32"/>
          <p:cNvSpPr/>
          <p:nvPr/>
        </p:nvSpPr>
        <p:spPr>
          <a:xfrm>
            <a:off x="365760" y="466344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vi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2026 update: SGLang &amp; LMDeploy đã vượt vLLM ~29% raw throughput cho nhiều use cases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3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SGLang &amp; LMDeploy — Deep Dive 2026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627" name="Google Shape;627;p33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3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3"/>
          <p:cNvSpPr/>
          <p:nvPr/>
        </p:nvSpPr>
        <p:spPr>
          <a:xfrm>
            <a:off x="365760" y="804672"/>
            <a:ext cx="3977640" cy="20116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3"/>
          <p:cNvSpPr/>
          <p:nvPr/>
        </p:nvSpPr>
        <p:spPr>
          <a:xfrm>
            <a:off x="365760" y="804672"/>
            <a:ext cx="3977640" cy="347472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3"/>
          <p:cNvSpPr/>
          <p:nvPr/>
        </p:nvSpPr>
        <p:spPr>
          <a:xfrm>
            <a:off x="457200" y="804672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🔷  SGLang — RadixAttention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3"/>
          <p:cNvSpPr/>
          <p:nvPr/>
        </p:nvSpPr>
        <p:spPr>
          <a:xfrm>
            <a:off x="457200" y="1170432"/>
            <a:ext cx="37947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Powers 400,000+ GPUs globally (xAI Grok 3, Azure DeepSeek R1)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RadixAttention: reuse KV cache across requests có chung prefix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Multi-turn gain thêm 10–20% nhờ cache hits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Compressed FSM: JSON output 3× faster vs naive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Prefill-Decode Disaggregation: tách GPU roles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v0.4: zero-overhead batch scheduler (&lt;2% CPU)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3"/>
          <p:cNvSpPr/>
          <p:nvPr/>
        </p:nvSpPr>
        <p:spPr>
          <a:xfrm>
            <a:off x="4480560" y="804672"/>
            <a:ext cx="4251960" cy="20116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3"/>
          <p:cNvSpPr/>
          <p:nvPr/>
        </p:nvSpPr>
        <p:spPr>
          <a:xfrm>
            <a:off x="4480560" y="804672"/>
            <a:ext cx="4251960" cy="3474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3"/>
          <p:cNvSpPr/>
          <p:nvPr/>
        </p:nvSpPr>
        <p:spPr>
          <a:xfrm>
            <a:off x="4572000" y="804672"/>
            <a:ext cx="4069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🔶  LMDeploy — TurboMind Engine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3"/>
          <p:cNvSpPr/>
          <p:nvPr/>
        </p:nvSpPr>
        <p:spPr>
          <a:xfrm>
            <a:off x="4572000" y="1170432"/>
            <a:ext cx="40690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TurboMind viết hoàn toàn bằng C++ — zero Python overhead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Persistent batch inference + blocked KV cache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1.8× request throughput vs vLLM 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Int4 inference: 2.4× faster than FP16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Best: quantized model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Ideal: latency-sensitive production apps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3"/>
          <p:cNvSpPr/>
          <p:nvPr/>
        </p:nvSpPr>
        <p:spPr>
          <a:xfrm>
            <a:off x="365760" y="2971800"/>
            <a:ext cx="8366760" cy="138988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3"/>
          <p:cNvSpPr/>
          <p:nvPr/>
        </p:nvSpPr>
        <p:spPr>
          <a:xfrm>
            <a:off x="365760" y="2971800"/>
            <a:ext cx="8366760" cy="347472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3"/>
          <p:cNvSpPr/>
          <p:nvPr/>
        </p:nvSpPr>
        <p:spPr>
          <a:xfrm>
            <a:off x="457200" y="2971800"/>
            <a:ext cx="8183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 Practical Deploy Tips (áp dụng cho mọi engine)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3"/>
          <p:cNvSpPr/>
          <p:nvPr/>
        </p:nvSpPr>
        <p:spPr>
          <a:xfrm>
            <a:off x="457200" y="3337560"/>
            <a:ext cx="8183880" cy="978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GPU memory utilization 80% là safe zone — 95% gây CUDA OOM khi graph compilation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Continuous batching LUÔN bật — max_model_len tune theo actual usage (đừng set 128K nếu 99% requests &lt;4K)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Health checks: /health endpoint, /v1/models verify model loaded, readiness probe 60s initial delay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4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Deploy vLLM / SGLang / TGI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648" name="Google Shape;648;p34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4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4"/>
          <p:cNvSpPr/>
          <p:nvPr/>
        </p:nvSpPr>
        <p:spPr>
          <a:xfrm>
            <a:off x="365760" y="8046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vi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vLLM — PagedAttention: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4"/>
          <p:cNvSpPr/>
          <p:nvPr/>
        </p:nvSpPr>
        <p:spPr>
          <a:xfrm>
            <a:off x="365760" y="1170432"/>
            <a:ext cx="4114800" cy="1417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4"/>
          <p:cNvSpPr/>
          <p:nvPr/>
        </p:nvSpPr>
        <p:spPr>
          <a:xfrm>
            <a:off x="457200" y="1216152"/>
            <a:ext cx="3931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nsolas"/>
              <a:buNone/>
            </a:pPr>
            <a:r>
              <a:rPr b="0" i="0" lang="vi" sz="100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python -m vllm.entrypoints\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nsolas"/>
              <a:buNone/>
            </a:pPr>
            <a:r>
              <a:rPr b="0" i="0" lang="vi" sz="100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.openai.api_server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nsolas"/>
              <a:buNone/>
            </a:pPr>
            <a:r>
              <a:rPr b="0" i="0" lang="vi" sz="100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--model meta-llama/Llama-3-8B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nsolas"/>
              <a:buNone/>
            </a:pPr>
            <a:r>
              <a:rPr b="0" i="0" lang="vi" sz="100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--tensor-parallel-size 1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nsolas"/>
              <a:buNone/>
            </a:pPr>
            <a:r>
              <a:rPr b="0" i="0" lang="vi" sz="100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--gpu-memory-utilization 0.80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4"/>
          <p:cNvSpPr/>
          <p:nvPr/>
        </p:nvSpPr>
        <p:spPr>
          <a:xfrm>
            <a:off x="4663440" y="8046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i="0" lang="vi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SGLang — RadixAttention + JSON: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4"/>
          <p:cNvSpPr/>
          <p:nvPr/>
        </p:nvSpPr>
        <p:spPr>
          <a:xfrm>
            <a:off x="4663440" y="1170432"/>
            <a:ext cx="4114800" cy="1417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4"/>
          <p:cNvSpPr/>
          <p:nvPr/>
        </p:nvSpPr>
        <p:spPr>
          <a:xfrm>
            <a:off x="4754880" y="1216152"/>
            <a:ext cx="3931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nsolas"/>
              <a:buNone/>
            </a:pPr>
            <a:r>
              <a:rPr b="0" i="0" lang="vi" sz="100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python -m sglang.launch_server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nsolas"/>
              <a:buNone/>
            </a:pPr>
            <a:r>
              <a:rPr b="0" i="0" lang="vi" sz="100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--model-path MODEL_PATH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nsolas"/>
              <a:buNone/>
            </a:pPr>
            <a:r>
              <a:rPr b="0" i="0" lang="vi" sz="100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--port 30000 \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000"/>
              <a:buFont typeface="Consolas"/>
              <a:buNone/>
            </a:pPr>
            <a:r>
              <a:rPr b="0" i="0" lang="vi" sz="1000" u="none" cap="none" strike="noStrike">
                <a:solidFill>
                  <a:srgbClr val="A3E635"/>
                </a:solidFill>
                <a:latin typeface="Consolas"/>
                <a:ea typeface="Consolas"/>
                <a:cs typeface="Consolas"/>
                <a:sym typeface="Consolas"/>
              </a:rPr>
              <a:t>  --tp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4"/>
          <p:cNvSpPr/>
          <p:nvPr/>
        </p:nvSpPr>
        <p:spPr>
          <a:xfrm>
            <a:off x="365760" y="2743200"/>
            <a:ext cx="8366760" cy="1664208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4"/>
          <p:cNvSpPr/>
          <p:nvPr/>
        </p:nvSpPr>
        <p:spPr>
          <a:xfrm>
            <a:off x="365760" y="2743200"/>
            <a:ext cx="836676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4"/>
          <p:cNvSpPr/>
          <p:nvPr/>
        </p:nvSpPr>
        <p:spPr>
          <a:xfrm>
            <a:off x="457200" y="2743200"/>
            <a:ext cx="8183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Practical Tips &amp; Health Checks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457200" y="3108960"/>
            <a:ext cx="818388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GPU memory utilization 80% = safe zone (95% = CUDA OOM)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Continuous batching LUÔN bật | max_model_len tune theo actual usage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Health: GET /health  |  GET /v1/models  |  Readiness probe: initialDelaySeconds: 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Compare TTFT: SGLang thường thấp hơn vLLM trong multi-turn nhờ RadixAttention cache hits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5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Tổng Kết — Key Takeaways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667" name="Google Shape;667;p35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5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vi" sz="1300" u="none" cap="none" strike="noStrike">
                <a:solidFill>
                  <a:srgbClr val="1B3A6B"/>
                </a:solidFill>
              </a:rPr>
              <a:t>Những ý chính cần nhớ sau buổi học hôm nay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670" name="Google Shape;670;p35"/>
          <p:cNvSpPr/>
          <p:nvPr/>
        </p:nvSpPr>
        <p:spPr>
          <a:xfrm>
            <a:off x="365760" y="1261872"/>
            <a:ext cx="502920" cy="6858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5"/>
          <p:cNvSpPr/>
          <p:nvPr/>
        </p:nvSpPr>
        <p:spPr>
          <a:xfrm>
            <a:off x="365760" y="1261872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vi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5"/>
          <p:cNvSpPr/>
          <p:nvPr/>
        </p:nvSpPr>
        <p:spPr>
          <a:xfrm>
            <a:off x="1005840" y="1261872"/>
            <a:ext cx="7726680" cy="6858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5"/>
          <p:cNvSpPr/>
          <p:nvPr/>
        </p:nvSpPr>
        <p:spPr>
          <a:xfrm>
            <a:off x="1005840" y="1261872"/>
            <a:ext cx="64008" cy="6858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5"/>
          <p:cNvSpPr/>
          <p:nvPr/>
        </p:nvSpPr>
        <p:spPr>
          <a:xfrm>
            <a:off x="1170432" y="1261872"/>
            <a:ext cx="7479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vi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 provider choice phụ thuộc workload type — không có "best", chỉ có "best fit". AWS (ecosystem), GCP (PyTorch/TPU), Azure (OpenAI), VN cloud (compliance).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5"/>
          <p:cNvSpPr/>
          <p:nvPr/>
        </p:nvSpPr>
        <p:spPr>
          <a:xfrm>
            <a:off x="365760" y="2359152"/>
            <a:ext cx="502920" cy="68580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5"/>
          <p:cNvSpPr/>
          <p:nvPr/>
        </p:nvSpPr>
        <p:spPr>
          <a:xfrm>
            <a:off x="365760" y="2359152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vi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5"/>
          <p:cNvSpPr/>
          <p:nvPr/>
        </p:nvSpPr>
        <p:spPr>
          <a:xfrm>
            <a:off x="1005840" y="2359152"/>
            <a:ext cx="7726680" cy="6858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5"/>
          <p:cNvSpPr/>
          <p:nvPr/>
        </p:nvSpPr>
        <p:spPr>
          <a:xfrm>
            <a:off x="1005840" y="2359152"/>
            <a:ext cx="64008" cy="685800"/>
          </a:xfrm>
          <a:prstGeom prst="rect">
            <a:avLst/>
          </a:prstGeom>
          <a:solidFill>
            <a:srgbClr val="2D5FA4"/>
          </a:solidFill>
          <a:ln cap="flat" cmpd="sng" w="12700">
            <a:solidFill>
              <a:srgbClr val="2D5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5"/>
          <p:cNvSpPr/>
          <p:nvPr/>
        </p:nvSpPr>
        <p:spPr>
          <a:xfrm>
            <a:off x="1170432" y="2359152"/>
            <a:ext cx="7479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vi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H200 (141GB HBM3e) là new standard 2026. Terraform/Pulumi + Helm = reproducible infra. Tránh "works on my machine" syndrome — mọi thứ as code.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5"/>
          <p:cNvSpPr/>
          <p:nvPr/>
        </p:nvSpPr>
        <p:spPr>
          <a:xfrm>
            <a:off x="365760" y="3456432"/>
            <a:ext cx="502920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5"/>
          <p:cNvSpPr/>
          <p:nvPr/>
        </p:nvSpPr>
        <p:spPr>
          <a:xfrm>
            <a:off x="365760" y="3456432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vi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5"/>
          <p:cNvSpPr/>
          <p:nvPr/>
        </p:nvSpPr>
        <p:spPr>
          <a:xfrm>
            <a:off x="1005840" y="3456432"/>
            <a:ext cx="7726680" cy="6858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5"/>
          <p:cNvSpPr/>
          <p:nvPr/>
        </p:nvSpPr>
        <p:spPr>
          <a:xfrm>
            <a:off x="1005840" y="3456432"/>
            <a:ext cx="64008" cy="685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5"/>
          <p:cNvSpPr/>
          <p:nvPr/>
        </p:nvSpPr>
        <p:spPr>
          <a:xfrm>
            <a:off x="1170432" y="3456432"/>
            <a:ext cx="747979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vi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Serving stack 2026: vLLM, SGLang, LMDeploy, TensorRT-LLM, Ollama — chọn theo use case. SGLang cho agents/multi-turn, LMDeploy cho max throughput.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vi" sz="2000" u="none" cap="none" strike="noStrike">
                <a:solidFill>
                  <a:srgbClr val="FFFFFF"/>
                </a:solidFill>
              </a:rPr>
              <a:t>Tiếp Theo &amp; Bài Tập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692" name="Google Shape;692;p36"/>
          <p:cNvSpPr/>
          <p:nvPr/>
        </p:nvSpPr>
        <p:spPr>
          <a:xfrm>
            <a:off x="0" y="4846320"/>
            <a:ext cx="914400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6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vi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Giảng viên (VinUni)        AICB · Ngày 16        Tuần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6"/>
          <p:cNvSpPr/>
          <p:nvPr/>
        </p:nvSpPr>
        <p:spPr>
          <a:xfrm>
            <a:off x="365760" y="804672"/>
            <a:ext cx="4114800" cy="2651760"/>
          </a:xfrm>
          <a:prstGeom prst="rect">
            <a:avLst/>
          </a:prstGeom>
          <a:solidFill>
            <a:srgbClr val="1B3A6B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6"/>
          <p:cNvSpPr/>
          <p:nvPr/>
        </p:nvSpPr>
        <p:spPr>
          <a:xfrm>
            <a:off x="502920" y="86868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vi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Ngày 17: Data Pipeline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6"/>
          <p:cNvSpPr/>
          <p:nvPr/>
        </p:nvSpPr>
        <p:spPr>
          <a:xfrm>
            <a:off x="365760" y="1371600"/>
            <a:ext cx="4114800" cy="3657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6"/>
          <p:cNvSpPr/>
          <p:nvPr/>
        </p:nvSpPr>
        <p:spPr>
          <a:xfrm>
            <a:off x="502920" y="1463040"/>
            <a:ext cx="38404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vi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"Airflow DAGs, Kafka streaming, ETL/ELT cho AI data — xây pipeline không để data bẩn phá model"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6"/>
          <p:cNvSpPr/>
          <p:nvPr/>
        </p:nvSpPr>
        <p:spPr>
          <a:xfrm>
            <a:off x="4663440" y="804672"/>
            <a:ext cx="4069080" cy="26517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6"/>
          <p:cNvSpPr/>
          <p:nvPr/>
        </p:nvSpPr>
        <p:spPr>
          <a:xfrm>
            <a:off x="4663440" y="804672"/>
            <a:ext cx="4069080" cy="3474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6"/>
          <p:cNvSpPr/>
          <p:nvPr/>
        </p:nvSpPr>
        <p:spPr>
          <a:xfrm>
            <a:off x="4754880" y="804672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vi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 Bài Tập &amp; Chuẩn Bị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6"/>
          <p:cNvSpPr/>
          <p:nvPr/>
        </p:nvSpPr>
        <p:spPr>
          <a:xfrm>
            <a:off x="4754880" y="1170432"/>
            <a:ext cx="3886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✅ Hoàn thành Lab 16: Cloud AI Environment Setup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✅ Cài đặt Docker Compose cho Airflow (pre-lab N17)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📖 Đọc trước: Apache Airflow TaskFlow API docs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vi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🔗 lms.vinuni.edu.vn → Slide &amp; templates trên LMS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6"/>
          <p:cNvSpPr/>
          <p:nvPr/>
        </p:nvSpPr>
        <p:spPr>
          <a:xfrm>
            <a:off x="365760" y="3703320"/>
            <a:ext cx="8366760" cy="594360"/>
          </a:xfrm>
          <a:prstGeom prst="rect">
            <a:avLst/>
          </a:prstGeom>
          <a:solidFill>
            <a:srgbClr val="EBF0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6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b="0" i="0" lang="vi" sz="11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⏱️  Agenda gợi ý N17: Airflow fundamentals (60') → Kafka streaming (45') → ETL/ELT patterns (45') → Lab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7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7"/>
          <p:cNvSpPr/>
          <p:nvPr/>
        </p:nvSpPr>
        <p:spPr>
          <a:xfrm>
            <a:off x="3200400" y="45720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0"/>
              <a:buFont typeface="Calibri"/>
              <a:buNone/>
            </a:pPr>
            <a:r>
              <a:rPr b="1" i="0" lang="vi" sz="10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7"/>
          <p:cNvSpPr/>
          <p:nvPr/>
        </p:nvSpPr>
        <p:spPr>
          <a:xfrm>
            <a:off x="548640" y="24688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vi" sz="3600" u="none" cap="none" strike="noStrike">
                <a:solidFill>
                  <a:srgbClr val="FFFFFF"/>
                </a:solidFill>
              </a:rPr>
              <a:t>Hỏi &amp; Đáp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sp>
        <p:nvSpPr>
          <p:cNvPr id="712" name="Google Shape;712;p37"/>
          <p:cNvSpPr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i="1" lang="vi" sz="1400" u="none" cap="none" strike="noStrike">
                <a:solidFill>
                  <a:srgbClr val="CADCFC"/>
                </a:solidFill>
              </a:rPr>
              <a:t>Câu hỏi nào về cloud providers, GPU selection, Kubernetes, hay AI serving stack?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6B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8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8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vi" sz="4000" u="none" cap="none" strike="noStrike">
                <a:solidFill>
                  <a:srgbClr val="FFFFFF"/>
                </a:solidFill>
              </a:rPr>
              <a:t>Cảm ơn!</a:t>
            </a:r>
            <a:endParaRPr i="0" sz="4000" u="none" cap="none" strike="noStrike">
              <a:solidFill>
                <a:schemeClr val="dk1"/>
              </a:solidFill>
            </a:endParaRPr>
          </a:p>
        </p:txBody>
      </p:sp>
      <p:sp>
        <p:nvSpPr>
          <p:cNvPr id="720" name="Google Shape;720;p38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1" lang="vi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AICB-P2T2 · Ngày 16 · Cloud Infrastructure for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