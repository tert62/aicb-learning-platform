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</p:sldIdLst>
  <p:notesMasterIdLst>
    <p:notesMasterId r:id="rId4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22840"/>
          </a:solidFill>
          <a:ln w="12700">
            <a:solidFill>
              <a:srgbClr val="12284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645920"/>
            <a:ext cx="91440" cy="12801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002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for AI Systems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hoá vòng đời model: từ thí nghiệm đến production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AICB-P2T2  ·  Ngày 21  ·  Chương 5: Vận Hành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  ·  Phase 2  ·  Track 2  ·  Tuần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2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229600" cy="4206240"/>
          </a:xfrm>
          <a:prstGeom prst="rect">
            <a:avLst/>
          </a:prstGeom>
          <a:solidFill>
            <a:srgbClr val="1A3A5C"/>
          </a:solidFill>
          <a:ln w="12700">
            <a:solidFill>
              <a:srgbClr val="2A4F7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91440" cy="420624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HÃY SUY NGHĨ...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"Code thay đổi mỗi ngày — model cũng vậy.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cho AI khác gì CI/CD cho software thông thường?"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team deploy model mới mỗi tuần bằng tay.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lần model bị regression nhưng không ai biết đến khi user phản hồi.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5DD8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Sau khi có CI/CD pipeline: ZERO regression lọt production trong 6 tháng.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A9C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Giữ câu hỏi này trong đầu suốt buổi học hôm nay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955280" y="49834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38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Nội Dung Bài Học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777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822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Experiment Tracking &amp; Model Registry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12984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28600" y="173736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173736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8600" y="1737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Data Version Control &amp; Pipelines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22585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" y="269748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8600" y="269748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8600" y="26974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CI Pipeline cho AI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3218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28600" y="365760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" y="36576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3703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 Model Deployment Strategies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41788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09160" y="77724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09160" y="77724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7772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822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Pyramid cho AI Systems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57800" y="129844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09160" y="173736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709160" y="173736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737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257800" y="178308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Model Serving &amp; A/B Testing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257800" y="225856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269748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09160" y="269748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6974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274320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Full CI/CD Pipeline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257800" y="32186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09160" y="3657600"/>
            <a:ext cx="4297680" cy="777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09160" y="3657600"/>
            <a:ext cx="457200" cy="7772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6576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257800" y="37033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 &amp; Preview Ngày 22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257800" y="417880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Bài Học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38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77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buổi học này, bạn sẽ có thể: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85039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43000"/>
            <a:ext cx="50292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4300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1216152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MLflow tracking server và log experiments một cách có hệ thống, so sánh runs qua UI.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011680"/>
            <a:ext cx="85039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011680"/>
            <a:ext cx="50292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01168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084832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DVC cho data versioning, tạo reproducible ML pipelines với dvc.yaml.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85039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80360"/>
            <a:ext cx="50292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88036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2953512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GitHub Actions CI/CD pipeline tự động test, train, eval và deploy AI models.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20040" y="3749040"/>
            <a:ext cx="850392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749040"/>
            <a:ext cx="50292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374904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822192"/>
            <a:ext cx="7726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Áp dụng các deployment strategies (canary, blue/green, shadow) để giảm rủi ro khi release model mới.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Deliverable Cuối Ngày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7772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 server  +  DVC-versioned dataset  +  GitHub Actions pipeline chạy auto test/deploy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572768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572768"/>
            <a:ext cx="64008" cy="65836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62763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UI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1874520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3 tracked experiments với params, metrics, và artifacts được log đầy đủ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77440"/>
            <a:ext cx="64008" cy="65836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4323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Pipeline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2679192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stages (prepare → train → evaluate) chạy dvc repro thành công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182112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182112"/>
            <a:ext cx="64008" cy="65836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23697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3483864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pass: test → train → eval gate → deploy trên repo thực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986784"/>
            <a:ext cx="8503920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" y="3986784"/>
            <a:ext cx="64008" cy="65836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04164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Registry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" y="4288536"/>
            <a:ext cx="8138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được register trong MLflow Registry và promote lên Staging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MLflow: Experiment Tracking &amp; Model Registry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 dõi, so sánh, và quản lý vòng đời model một cách hệ thống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MLflow: 4 Thành Phần Cốt Lõi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38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là open-source platform để quản lý toàn bộ vòng đời ML — từ thí nghiệm đến production.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411480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88720"/>
            <a:ext cx="4114800" cy="38404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16184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parameters, metrics, artifacts và source code.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runs qua web UI hoặc API.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11480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188720"/>
            <a:ext cx="4114800" cy="3840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887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61848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Đóng gói code để reproducibility.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lại bất kỳ run nào trên bất kỳ platform nào.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411480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2880360"/>
            <a:ext cx="4114800" cy="38404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8803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1012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 hoá format packaging (mlflow.sklearn, .pytorch, .pyfunc).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lên nhiều nền tảng khác nhau.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114800" cy="14630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880360"/>
            <a:ext cx="4114800" cy="384048"/>
          </a:xfrm>
          <a:prstGeom prst="rect">
            <a:avLst/>
          </a:prstGeom>
          <a:solidFill>
            <a:srgbClr val="B7400A"/>
          </a:solidFill>
          <a:ln w="12700">
            <a:solidFill>
              <a:srgbClr val="B740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88036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00600" y="3310128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 lý lifecycle: None → Staging → Production → Archived.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review &amp; approve trước khi promote.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Tracking: Log Experiments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84632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6268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mlflow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mlflow.models import infer_signature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mlflow.set_experiment("sentiment-v2")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mlflow.start_run(run_name="lr_0001_ep10"):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Log hyperparameters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mlflow.log_param("lr", 0.001)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mlflow.log_param("epochs", 10)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mlflow.log_param("batch_size", 32)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Training loop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epoch in range(10):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loss = train_one_epoch(model, loader)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acc  = evaluate(model, val_loader)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mlflow.log_metric("train_loss", loss, step=epoch)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mlflow.log_metric("val_accuracy", acc,  step=epoch)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Save artifacts &amp; model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mlflow.log_artifact("confusion_matrix.png")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mlflow.sklearn.log_model(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model, "model",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signature=infer_signature(X_val,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749808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749808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822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0241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Hyperparameters, data version, model config — bất biến trong một run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0" y="1737360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737360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8105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011680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Loss, accuracy — log tại mỗi step/epoch để vẽ đồ thị so sánh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2724912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724912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980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Plots, confusion matrix, config files lưu cùng run để trace back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57800" y="3712464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3712464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7856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3986784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Input/output schema tự động suy diễn — cần thiết cho serving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MLflow: So Sánh Runs &amp; LLM Autolog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20624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49808"/>
            <a:ext cx="42062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749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Runs trong MLflow UI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188720"/>
            <a:ext cx="39319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&amp; sort runs theo bất kỳ metric nào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Coordinates Chart — thấy ngay lr nào cho loss thấp nhất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 Plot — compare accuracy vs latency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 params giữa 2 runs để debug regression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artifacts, view confusion matrix trực tiếp trên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749808"/>
            <a:ext cx="416052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749808"/>
            <a:ext cx="4160520" cy="347472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749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Autolog (MLflow 2.8+)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188720"/>
            <a:ext cx="3931920" cy="21945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280160"/>
            <a:ext cx="371246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OpenAI autolog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mlflow.openai.autolog()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LangChain autolog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mlflow.langchain.autolog()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Tự động log: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Prompt templates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Input / output content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Token usage (prompt, completion)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Latency per call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Model name &amp; version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Retrieval context (RAG)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46320" y="3456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Không cần sửa code, chỉ cần gọi autolog() trước khi run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46320" y="397764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Hỗ trợ: OpenAI, LangChain, LlamaIndex, Anthropic Claude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Model Registry: Lifecycle Management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005840"/>
            <a:ext cx="1645920" cy="502920"/>
          </a:xfrm>
          <a:prstGeom prst="rect">
            <a:avLst/>
          </a:prstGeom>
          <a:solidFill>
            <a:srgbClr val="888888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194560" y="1216152"/>
            <a:ext cx="4572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30552" y="10058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1005840"/>
            <a:ext cx="164592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97680" y="1216152"/>
            <a:ext cx="4572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33672" y="10058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54880" y="1005840"/>
            <a:ext cx="1645920" cy="50292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0" y="1216152"/>
            <a:ext cx="457200" cy="731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005840"/>
            <a:ext cx="594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retire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858000" y="1005840"/>
            <a:ext cx="1645920" cy="502920"/>
          </a:xfrm>
          <a:prstGeom prst="rect">
            <a:avLst/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10058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Archived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71600" y="749808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 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1874520"/>
            <a:ext cx="4206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1874520"/>
            <a:ext cx="640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1947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version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22219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stage riêng. Nhiều version cùng tồn tại — team có thể A/B test champion vs challenger.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1874520"/>
            <a:ext cx="4206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874520"/>
            <a:ext cx="640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9476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19472" y="22219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lý do promote/reject, link đến eval report, người approve — full audit trail.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74320" y="3291840"/>
            <a:ext cx="4206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291840"/>
            <a:ext cx="640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Alias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" y="363931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 = Production version, challenger = A/B candidate. Load bằng tên alias.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3291840"/>
            <a:ext cx="4206240" cy="1234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3291840"/>
            <a:ext cx="64008" cy="12344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19472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363931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 CI/CD khi model chuyển stage — tự động deploy staging khi Staging được approve.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Registry: API &amp; Best Practices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84632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6268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mlflow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mlflow import MlflowClient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= MlflowClient()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Register model từ run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mlflow.register_model(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model_uri=f"runs:/{run_id}/model",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name="sentiment_classifier"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Promote to Staging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client.transition_model_version_stage(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name="sentiment_classifier",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version=result.version,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stage="Staging"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model bằng alias "champion"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= mlflow.sklearn.load_model(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model_uri="models:/sentiment_classifier@champion"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749808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749808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822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Naming Convention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0241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tên model rõ ràng: {task}_{arch}_{version}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VD: sentiment_bert_base, fraud_lgbm_v2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0" y="1737360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737360"/>
            <a:ext cx="64008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8105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Strategy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011680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 với: data_version, git_commit, eval_accuracy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Trace back ngay khi có incident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2724912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724912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980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 ≥1 reviewer approve trước khi promote Staging → Production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webhook để notify Slack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57800" y="3712464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3712464"/>
            <a:ext cx="64008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7856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Plan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3986784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Luôn giữ previous Production version ở Archived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1 API call để rollback nếu cần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DVC: Data Version Control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cho data — versioning, pipelines, và reproducibility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 Đề: Data Không Có Version Control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804672"/>
            <a:ext cx="42062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804672"/>
            <a:ext cx="4206240" cy="38404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804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  Không tái tạo được kết quả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" y="1243584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"Hôm qua model đạt 92% nhưng hôm nay chỉ còn 88%" — không biết data đã thay đổi hay code?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804672"/>
            <a:ext cx="42062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00600" y="804672"/>
            <a:ext cx="4206240" cy="38404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80467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  Merge conflict với data lớn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10328" y="1243584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không track được file GB. Team dùng shared folder → overwrite nhau, không có history.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70632"/>
            <a:ext cx="42062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770632"/>
            <a:ext cx="4206240" cy="38404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" y="27706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 Experiment không gắn với data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29768" y="3209544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log metrics nhưng không biết train trên data version nào → A/B comparison vô nghĩa.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00600" y="2770632"/>
            <a:ext cx="42062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770632"/>
            <a:ext cx="4206240" cy="384048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10328" y="2770632"/>
            <a:ext cx="3977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  Storage lãng phí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910328" y="3209544"/>
            <a:ext cx="3977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người copy data riêng → duplicates tốn hàng chục GB. Không có deduplication.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DVC: Git cho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84632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6268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Khởi tạo DVC trong repo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init &amp;&amp; dvc init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Add data file (tạo .dvc pointer)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add data/training_set.parquet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Tạo data/training_set.parquet.dvc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→ Thêm data/ vào .gitignore tự động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Commit .dvc file vào git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data/training_set.parquet.dvc .gitignore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"track training dataset v1"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Push data lên remote 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Team member pull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&lt;repo&gt;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pull   # download đúng version data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749808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749808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8229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Pointer File (.dvc)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1024128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nhỏ lưu hash của data. Git track .dvc file → checkout code = checkout data đúng version.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0" y="1737360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737360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181051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Content-Addressable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2011680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lưu theo hash nội dung → không tốn dung lượng cho duplicates dù có 100 versions.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257800" y="2724912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724912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9806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Supports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394960" y="2999232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Amazon S3, Google GCS, Azure Blob, SSH server, HDFS — cùng API dvc push/pull.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257800" y="3712464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3712464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78561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Offline-first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94960" y="3986784"/>
            <a:ext cx="3474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Làm việc local không cần mạng. Sync remote khi cần — giống git push/pull.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Remote Storage: Cấu Hình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84632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6268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Setup S3 remote (khuyến nghị cho production)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add -d myremote s3://my-bucket/dvc-store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modify myremote region us-east-1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Google Cloud 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add gcs_remote gs://my-gcs-bucket/data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Azure Blob Storage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add azure_remote azure://mycontainer/data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SSH server (on-premise)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add ssh_remote ssh://user@server:/path/data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Xem danh sách remotes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remote list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Push / pull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push                    # upload tất cả 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pull data/train.parquet # pull một file cụ thể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749808"/>
            <a:ext cx="365760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8046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 cho Remote Storage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94960" y="1143000"/>
            <a:ext cx="34290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S3/GCS cho team production — có versioning và ACL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Cấu hình IAM role cho CI/CD, không dùng access key cứng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Bật S3 server-side encryption cho data nhạy cảm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dvc remote modify --local để lưu credentials local (không commit)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lifecycle policy trên S3: move cold data sang Glacier sau 90 ngày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locally với DVCCACHE — tránh re-download khi checkout branches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Tách remote: dev (fast) và archive (cheap cold storage)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Pipeline: Reproducible Workflows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484632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6268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dvc.yaml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prepare: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cmd: python src/prepare.py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data/raw/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src/prepare.py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data/processed/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cmd: python src/train.py --lr ${params.lr}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data/processed/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src/train.py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params.yaml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outs: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models/model.pkl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metrics.json: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cache: false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evaluate: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cmd: python src/evaluate.py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models/model.pkl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data/test/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metrics: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eval_metrics.json: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cache: false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257800" y="749808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57800" y="749808"/>
            <a:ext cx="64008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7955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repro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13248" y="106984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lại stages bị stale (deps thay đổi). Smart caching — bỏ qua stages chưa thay đổi.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1737360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57800" y="1737360"/>
            <a:ext cx="64008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248" y="178308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dag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13248" y="20574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pipeline DAG trong terminal. Thấy ngay dependency graph.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257800" y="2724912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57800" y="2724912"/>
            <a:ext cx="64008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13248" y="2770632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metrics show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13248" y="3044952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metrics.json giữa các lần chạy. Hiện diff rõ ràng.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257800" y="3712464"/>
            <a:ext cx="365760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257800" y="3712464"/>
            <a:ext cx="64008" cy="841248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13248" y="3758184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17A6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params diff HEAD~1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13248" y="4032504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params giữa current và previous commit.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Experiments: So Sánh Hyperparameters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16636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946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Chạy experiment với param khác nhau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run --set-param lr=0.001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run --set-param lr=0.01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run --set-param lr=0.1 --set-param epochs=20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Chạy nhiều experiments song song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run --set-param lr=0.001,0.01,0.1 --jobs 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Xem kết quả so sánh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show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┏━━━━━━━━━━━━━━┳━━━━━━━┳━━━━━━━━┳━━━━━━━━━━━┓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┃ Experiment   ┃ lr    ┃ epochs ┃ accuracy  ┃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┡━━━━━━━━━━━━━━╇━━━━━━━╇━━━━━━━━╇━━━━━━━━━━━┩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│ workspace    │ 0.01  │ 10     │ 0.924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│ exp-abc123   │ 0.001 │ 10     │ 0.918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│ exp-def456   │ 0.1   │ 10     │ 0.891     │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│ exp-ghi789   │ 0.1   │ 20     │ 0.912     │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Apply kết quả tốt nhất vào workspace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apply exp-abc123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Persist experiment thành branch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dvc exp branch exp-abc123 best-lr-001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749808"/>
            <a:ext cx="329184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822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DVC Workflow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117043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commit → code version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push → data version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.dvc file liên kết 2 layer lại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kỳ ai git clone + dvc pull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reproduce y hệt kết quả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 vs MLflow: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DVC: pipeline + data versioning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MLflow: metrics + model registry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Dùng cả hai, không chọn một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Actions: CI Pipeline cho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Tự động hoá test, train và eval mỗi khi code thay đổi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cho AI: Khác Gì Software Thông Thường?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22860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" y="749808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Khía cạnh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60320" y="749808"/>
            <a:ext cx="32004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749808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Software truyền thống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806440" y="749808"/>
            <a:ext cx="3200400" cy="475488"/>
          </a:xfrm>
          <a:prstGeom prst="rect">
            <a:avLst/>
          </a:prstGeom>
          <a:solidFill>
            <a:srgbClr val="1A3A5C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9592" y="749808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cho AI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1271016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" y="1271016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560320" y="12710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33472" y="127101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/ Docker image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806440" y="12710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79592" y="127101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 + metadata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28600" y="1792224"/>
            <a:ext cx="22860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" y="1792224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560320" y="1792224"/>
            <a:ext cx="32004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33472" y="1792224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test, integration 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06440" y="1792224"/>
            <a:ext cx="32004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79592" y="1792224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Model eval, data validation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" y="2313432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" y="2313432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0320" y="231343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33472" y="231343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cho code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806440" y="231343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2313432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+ DVC cho code + data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28600" y="2834640"/>
            <a:ext cx="22860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" y="2834640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560320" y="2834640"/>
            <a:ext cx="32004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33472" y="2834640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— code giống nhau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806440" y="2834640"/>
            <a:ext cx="32004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79592" y="2834640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Non-deterministic — cần eval gate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28600" y="335584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" y="3355848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trigger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560320" y="335584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33472" y="3355848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rate tăng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806440" y="3355848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79592" y="3355848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Accuracy drop, bias metrics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228600" y="3877056"/>
            <a:ext cx="22860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01752" y="3877056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input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560320" y="3877056"/>
            <a:ext cx="32004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33472" y="387705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changes only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06440" y="3877056"/>
            <a:ext cx="3200400" cy="47548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879592" y="3877056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hoặc data changes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228600" y="4398264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1752" y="4398264"/>
            <a:ext cx="21762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gian build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560320" y="4398264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633472" y="4398264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Vài phút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5806440" y="4398264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79592" y="4398264"/>
            <a:ext cx="309067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Vài phút → vài giờ (training)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Pipeline Architecture cho AI Projects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37160" y="960120"/>
            <a:ext cx="1600200" cy="77724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" y="960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/ PR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37360" y="1307592"/>
            <a:ext cx="3657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65960" y="960120"/>
            <a:ext cx="1600200" cy="77724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960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66160" y="1307592"/>
            <a:ext cx="3657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94760" y="960120"/>
            <a:ext cx="1600200" cy="77724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94760" y="960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94960" y="1307592"/>
            <a:ext cx="3657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960120"/>
            <a:ext cx="1600200" cy="777240"/>
          </a:xfrm>
          <a:prstGeom prst="rect">
            <a:avLst/>
          </a:prstGeom>
          <a:solidFill>
            <a:srgbClr val="B7400A"/>
          </a:solidFill>
          <a:ln w="12700">
            <a:solidFill>
              <a:srgbClr val="B740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23560" y="960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23760" y="1307592"/>
            <a:ext cx="365760" cy="640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52360" y="960120"/>
            <a:ext cx="1600200" cy="77724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96012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(if pass)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23560" y="2103120"/>
            <a:ext cx="1600200" cy="64008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2103120"/>
            <a:ext cx="1600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Deploy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accuracy drop &gt;2%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28232" y="1737360"/>
            <a:ext cx="64008" cy="36576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8600" y="2926080"/>
            <a:ext cx="420624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2926080"/>
            <a:ext cx="6400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29809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84048" y="323697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on: push (main), pull_request (main) → mọi PR đều qua pipeline trước khi merge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2926080"/>
            <a:ext cx="420624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926080"/>
            <a:ext cx="6400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29809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Filter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323697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job chỉ chạy khi data/ hoặc src/ thay đổi — tránh retrain khi sửa docs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3886200"/>
            <a:ext cx="420624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28600" y="3886200"/>
            <a:ext cx="6400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84048" y="39410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84048" y="419709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 fail → dừng pipeline ngay, không chạy training tốn GPU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800600" y="3886200"/>
            <a:ext cx="4206240" cy="8046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00600" y="3886200"/>
            <a:ext cx="6400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9410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Gate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956048" y="4197096"/>
            <a:ext cx="3886200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new model vs production baseline — block deploy nếu accuracy drop &gt;2%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Actions: Cấu Trúc Workflow YAML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30352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508406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AI CI/CD Pipeline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push: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pull_request: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branches: [main]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MLFLOW_TRACKING_URI: ${{ secrets.MLFLOW_TRACKING_URI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AWS_ACCESS_KEY_ID:   ${{ secrets.AWS_ACCESS_KEY_ID }}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data-validation: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actions/setup-python@v5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 { python-version: "3.11"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actions/cache@v4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with: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path: ~/.cache/pip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key: pip-${{ hashFiles('requirements.txt') }}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pip install -r requirements.txt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dvc pull data/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great_expectations checkpoint run data_quality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Fail fast nếu data drift detected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760720" y="749808"/>
            <a:ext cx="3154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60720" y="749808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822960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97880" y="1024128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MLFLOW_TRACKING_URI, AWS keys → GitHub Secrets.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hardcode trong workflow file.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760720" y="1737360"/>
            <a:ext cx="3154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760720" y="1737360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1810512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Cache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97880" y="2011680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actions/cache với key = hash(requirements.txt)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Giảm 60-80% thời gian setup.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760720" y="2724912"/>
            <a:ext cx="3154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724912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97880" y="2798064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Dependencies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897880" y="2999232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needs: [data-validation] → training chỉ chạy khi validation pass. Sequential control flow.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760720" y="3712464"/>
            <a:ext cx="315468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60720" y="3712464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897880" y="3785616"/>
            <a:ext cx="2971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Federation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97880" y="3986784"/>
            <a:ext cx="297180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Production: dùng OIDC thay vì long-lived AWS keys. Hết hạn sau mỗi run.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Job: Data Validation với Great Expectations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16636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946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.github/workflows/ai-cicd.yml (tiếp theo)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needs: [data-validation]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runs-on: ubuntu-latest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if: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github.event_name == 'push' &amp;&amp;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contains(toJson(github.event.commits.*.modified),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'"data/') ||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contains(toJson(github.event.commits.*.modified),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'"src/')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steps: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uses: actions/checkout@v4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dvc pull data/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dvc repro train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run: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mlflow run . --entry-point train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-P lr=0.001 -P epochs=10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great_expectations/checkpoints/data_quality.yml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data_quality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class_name: Checkpoint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batch_request: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datasource_name: training_data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expectation_suite_name: training.warning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action_list: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store_validation_result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{ class_name: StoreValidationResultAction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name: send_slack_alert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action: { class_name: SlackNotificationAction }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749808"/>
            <a:ext cx="329184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822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kiểm tra Data Quality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117043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validation: đúng columns, đúng dtypes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Null rate: mỗi column ≤ 5% null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range: tuổi 0–120, price &gt; 0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drift: KL-divergence vs baseline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rows &lt; 0.1%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balance: minority class ≥ 10%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check: ≥ 10,000 rows mỗi batch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Freshness: data không cũ hơn 7 ngày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Job: Eval Gate — Safety Net Quan Trọng Nhất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16636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946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compare_models.py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mlflow, sys, json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eval_gate(new_model_uri, prod_model_uri,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threshold=0.02):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client = mlflow.MlflowClient()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Load cả hai models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new_model  = mlflow.sklearn.load_model(new_model_uri)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prod_model = mlflow.sklearn.load_model(prod_model_uri)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Evaluate trên held-out test set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new_acc  = evaluate(new_model,  X_test, y_test)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prod_acc = evaluate(prod_model, X_test, y_test)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delta = new_acc - prod_acc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print(f"New: {new_acc:.4f} | Prod: {prod_acc:.4f} | Δ={delta:+.4f}")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delta &lt; -threshold: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print(f"FAIL: accuracy drop {delta:.4f} &gt; threshold {-threshold}")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sys.exit(1)   # GitHub Actions job fails → blocks deploy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print("PASS: new model &gt;= baseline - threshold")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GitHub Actions step: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run: python compare_models.py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--new  models:/sentiment/$(cat new_version.txt)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--prod models:/sentiment@champion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--threshold 0.02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749808"/>
            <a:ext cx="329184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822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Gate Best Practices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117043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FIXED held-out test set — không shuffle mỗi lần eval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nhiều metrics: accuracy, F1, AUC, latency P95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khác nhau theo metric: accuracy ±2%, latency ±10%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eval results vào MLflow để có history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 kết quả vào PR để reviewer thấy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Nếu pass borderline: yêu cầu manual review thay vì auto-deploy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Best Practices cho AI Repositories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2834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2834640" cy="34747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&amp; Credentials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117957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Secrets cho MLFLOW_TRACKING_URI, AWS keys.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OIDC federation cho production — không có long-lived keys.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54680" y="777240"/>
            <a:ext cx="2834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777240"/>
            <a:ext cx="283464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Caching Strategy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246120" y="117957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actions/cache với pip (key=hash requirements), DVC cache trên S3.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runner nếu cần GPU — tiết kiệm 10x cost.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777240"/>
            <a:ext cx="2834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777240"/>
            <a:ext cx="2834640" cy="34747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7220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Builds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172200" y="117957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trên Python 3.10, 3.11, 3.12.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 strategy cho AI: test across model sizes, CUDA versions.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697480"/>
            <a:ext cx="2834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697480"/>
            <a:ext cx="2834640" cy="347472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Execution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20040" y="309981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filters: train job chỉ chạy khi src/ hoặc data/ thay đổi.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Doc-only PR bỏ qua training → tiết kiệm tiền GPU.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154680" y="2697480"/>
            <a:ext cx="2834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697480"/>
            <a:ext cx="2834640" cy="3474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Parallelism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246120" y="309981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unit test, lint, data validation song song (jobs độc lập).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fast: cancel running jobs khi một job fail.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080760" y="2697480"/>
            <a:ext cx="2834640" cy="1691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80760" y="2697480"/>
            <a:ext cx="2834640" cy="34747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72200" y="26974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72200" y="3099816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webhook khi pipeline fail, khi eval gate block deploy.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kết quả eval vào PR comment tự động.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CD: Model Deployment Strategies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Giảm rủi ro khi deploy model mới vào production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Deployment Strategies cho AI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868680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1188720" cy="914400"/>
          </a:xfrm>
          <a:prstGeom prst="rect">
            <a:avLst/>
          </a:prstGeom>
          <a:solidFill>
            <a:srgbClr val="1A7A4A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77724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82296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hoạt động: Route 5% traffic → model mới, tăng dần khi healthy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08760" y="112471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Phát hiện lỗi sớm, kiểm soát risk từng bước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12471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Cần monitoring tốt, traffic split logic phức tạp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828800"/>
            <a:ext cx="868680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" y="1828800"/>
            <a:ext cx="1188720" cy="9144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18288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Blue/Green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08760" y="187452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hoạt động: Deploy v2 song song v1, switch load balancer khi ready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08760" y="21762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Zero downtime, instant rollback qua load balancer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217627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Tốn gấp đôi resource khi cả hai env chạy song song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880360"/>
            <a:ext cx="868680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880360"/>
            <a:ext cx="1188720" cy="91440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288036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508760" y="292608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hoạt động: Model mới xử lý traffic nhưng không trả response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08760" y="3227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Test với real traffic không ảnh hưởng user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Không test user reaction, tốn compute gấp đôi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" y="3931920"/>
            <a:ext cx="868680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8600" y="3931920"/>
            <a:ext cx="1188720" cy="914400"/>
          </a:xfrm>
          <a:prstGeom prst="rect">
            <a:avLst/>
          </a:prstGeom>
          <a:solidFill>
            <a:srgbClr val="B7400A"/>
          </a:solidFill>
          <a:ln w="12700">
            <a:solidFill>
              <a:srgbClr val="B740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93192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08760" y="3977640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Cách hoạt động: Thay từng pod một trong Kubernetes deployment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508760" y="427939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Đơn giản, default K8s, không cần extra infra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279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Slow rollback, mixed versions trong quá trình deploy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Deployment: Deep-Dive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777240"/>
            <a:ext cx="2560320" cy="5486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777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Balancer (Istio / ALB)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325880"/>
            <a:ext cx="64008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79592" y="1325880"/>
            <a:ext cx="64008" cy="4572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716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52160" y="13716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7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828800" y="1783080"/>
            <a:ext cx="210312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783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v1 (stable)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0" y="1783080"/>
            <a:ext cx="2103120" cy="594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7830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v2 (canary)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108960" y="2651760"/>
            <a:ext cx="2743200" cy="54864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2651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Monitor: P99 latency · accuracy · error 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8600" y="3364992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Steps: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3657600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traffic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28600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148840" y="3657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423160" y="3657600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23160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traffic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423160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43400" y="3657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617720" y="3657600"/>
            <a:ext cx="192024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17720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traffic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17720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537960" y="365760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812280" y="3657600"/>
            <a:ext cx="1920240" cy="640080"/>
          </a:xfrm>
          <a:prstGeom prst="rect">
            <a:avLst/>
          </a:prstGeom>
          <a:solidFill>
            <a:srgbClr val="1A7A4A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3657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traffic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12280" y="40050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check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28600" y="4407408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trigger: P99 latency vượt threshold HOẶC accuracy drop &gt;2% → auto rollback về v1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Blue/Green &amp; Shadow Mode: Chi Tiết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06240" cy="3657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749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Blue/Green Deployment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115568"/>
            <a:ext cx="4206240" cy="3154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70432"/>
            <a:ext cx="3977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v2 hoàn toàn độc lập với v1 đang chạy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smoke test &amp; integration test trên v2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Switch load balancer → toàn bộ traffic sang v2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v1 sống thêm 30 phút → instant rollback nếu cần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30 phút stable → shutdown v1, giải phóng resource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dùng: deploy lớn, cần zero downtime tuyệt đối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tốn gấp đôi infrastructure cost trong khi switch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206240" cy="3657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74980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 Mode (Dark Launch)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09160" y="1115568"/>
            <a:ext cx="4206240" cy="315468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170432"/>
            <a:ext cx="39776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được forward tới CẢ HAI models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của v1 trả về user như bình thường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 của v2 (shadow) chỉ được log, không trả user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sánh outputs: latency, predictions, errors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Hoàn toàn zero risk với user experience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Khi nào dùng: model thay đổi lớn, muốn validate trước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tốn compute gấp đôi, không test user reaction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Multi-Environment CD Pipeline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77240"/>
            <a:ext cx="2743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4048" y="1298448"/>
            <a:ext cx="2514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deploy mọi commit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Smoke test nhanh (&lt; 2 min)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giả lập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017520" y="777240"/>
            <a:ext cx="182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200400" y="777240"/>
            <a:ext cx="2743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10128" y="1298448"/>
            <a:ext cx="2514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deploy khi dev pass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integration tests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Dữ liệu thật (subset)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gate vs baseline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777240"/>
            <a:ext cx="182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126480" y="777240"/>
            <a:ext cx="2743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777240"/>
            <a:ext cx="2743200" cy="4572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36208" y="1298448"/>
            <a:ext cx="2514600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approval required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30 phút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Rollback plan ready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4114800"/>
            <a:ext cx="864108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114800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GitOps cho AI với ArgoCD / Flux: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743200" y="4114800"/>
            <a:ext cx="6035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Declarative deployment — mọi thay đổi infra đều qua git commit → auto-sync từ repo → rollback bằng git revert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Pyramid cho AI Systems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unit test đến load test — đảm bảo chất lượng ở mọi tầng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Testing Pyramid: Tổng Quan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520440" y="777240"/>
            <a:ext cx="1828800" cy="594360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7772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43400" y="777240"/>
            <a:ext cx="60350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k6 / Locust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46904" y="777240"/>
            <a:ext cx="410565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&lt; 500ms tại 50 RPS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536192"/>
            <a:ext cx="320040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0" y="1536192"/>
            <a:ext cx="14401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Tests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74820" y="1536192"/>
            <a:ext cx="105613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Expectations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330952" y="1536192"/>
            <a:ext cx="37216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Schema, distribution, quality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48840" y="2295144"/>
            <a:ext cx="4572000" cy="594360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40280" y="2295144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Tests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295144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+ custom scripts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715000" y="2295144"/>
            <a:ext cx="3337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Behavioral, performance regression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34440" y="3054096"/>
            <a:ext cx="6400800" cy="59436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25880" y="3054096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3054096"/>
            <a:ext cx="21122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27064" y="3054096"/>
            <a:ext cx="282549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inference pipeline với sample inputs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" y="3813048"/>
            <a:ext cx="8412480" cy="594360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813048"/>
            <a:ext cx="378561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14216" y="3813048"/>
            <a:ext cx="277611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E8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(fast)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790334" y="3813048"/>
            <a:ext cx="226222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preprocessing, tokenization, feature engineering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&amp; Integration Tests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16636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946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Unit tests: test từng function độc lập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src.preprocessing import clean_text, tokenize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test_clean_text_removes_html():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clean_text("&lt;b&gt;hello&lt;/b&gt;") == "hello"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test_tokenize_max_length():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tokens = tokenize("word " * 600, max_len=512)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len(tokens) &lt;= 512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test_feature_engineering_no_leakage():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"""Test rằng feature engineer không dùng future data"""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 = make_test_df(n=100)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features = engineer_features(df, target_col="label")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"label" not in features.columns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Integration tests: test toàn bộ pipeline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test_inference_pipeline_e2e():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"""Full pipeline: raw input → prediction"""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payload = {"text": "This product is great!"}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client.post("/predict", json=payload)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response.status_code == 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"label" in response.json()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"confidence" in response.json()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0.0 &lt;= response.json()["confidence"] &lt;= 1.0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749808"/>
            <a:ext cx="3291840" cy="4023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42432" y="8229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Checklist cho Unit Tests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42432" y="1170432"/>
            <a:ext cx="306324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tất cả preprocessing steps riêng lẻ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edge cases: empty input, null, max length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tokenization với special characters, tiếng Việt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feature engineering: không data leakage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external calls (API, DB) trong unit tests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≥ 80% cho src/ module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dưới 30 giây cho toàn bộ unit test suite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test: dùng fixture nhỏ (100 samples)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Tests · Data Tests · Load Tests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8686800" cy="1261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2011680" cy="1261872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777240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Tests — Behavioral &amp; Regression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868680"/>
            <a:ext cx="6400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Behavioral: model PHẢI từ chối nội dung harmful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Invariance: xoay ảnh 90° → prediction không đổi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Directional: thêm 'not' vào câu → sentiment đổi chiều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Regression: accuracy trên golden test set ≥ v_prev - 0.5%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Fairness: accuracy gap giữa subgroups &lt; 3%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194560"/>
            <a:ext cx="8686800" cy="1261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194560"/>
            <a:ext cx="2011680" cy="126187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194560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Tests — Great Expectations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77440" y="2286000"/>
            <a:ext cx="6400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Schema: đúng columns, đúng dtypes, không extra columns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Completeness: null rate mỗi column ≤ threshold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Distribution: KS test so với baseline distribution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Volume: số rows trong expected range [min, max]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Chạy trên mỗi new data version, log kết quả vào MLflow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611880"/>
            <a:ext cx="8686800" cy="126187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611880"/>
            <a:ext cx="2011680" cy="1261872"/>
          </a:xfrm>
          <a:prstGeom prst="rect">
            <a:avLst/>
          </a:prstGeom>
          <a:solidFill>
            <a:srgbClr val="7B241C"/>
          </a:solidFill>
          <a:ln w="12700">
            <a:solidFill>
              <a:srgbClr val="7B241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611880"/>
            <a:ext cx="18288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Tests — k6 / Locust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377440" y="3703320"/>
            <a:ext cx="64008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Baseline: 50 RPS, P95 &lt; 500ms, error rate &lt; 0.1%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test: tăng dần đến 500 RPS tìm breaking point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Soak test: 50 RPS trong 1 giờ — check memory leak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Spike test: 0 → 500 RPS đột ngột — check auto-scaling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 pipeline nếu bất kỳ SLA nào bị vi phạm</a:t>
            </a:r>
            <a:endParaRPr lang="en-US" sz="10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Model Serving &amp; A/B Testing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model registry đến production endpoint, A/B test và gradual rollout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Model Serving: Các Tuỳ Chọn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16636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946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Local serving — phát triển và testing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models serve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"models:/sentiment_classifier/Production"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-p 5000 --no-conda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 endpoint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http://localhost:5000/invocations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-H "Content-Type: application/json"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-d '{"inputs": [{"text": "Great product!"}]}'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Build Docker image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mlflow models build-docker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-m "models:/sentiment_classifier/Production" \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-n sentiment-serving:v1.0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Deploy lên Kubernetes với KServe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kubectl apply -f - &lt;&lt;EOF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serving.kserve.io/v1beta1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InferenceService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sentiment-classifier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predictor: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storageUri: "s3://models/sentiment/v1"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modelFormat: { name: mlflow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resources: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requests: { cpu: "1", memory: "2Gi"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EOF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749808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749808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79008" y="804672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79008" y="10789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models serve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Dành cho dev/test. Khởi động nhanh.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23560" y="1737360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737360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79008" y="1792224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79008" y="2066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models build-docker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Portable, dùng cho staging deploy.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23560" y="2724912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724912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79008" y="2779776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79008" y="305409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SageMaker, Azure ML, Databricks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infrastructure, auto-scaling.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23560" y="3712464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3712464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79008" y="3767328"/>
            <a:ext cx="3017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79008" y="40416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Seldon Core, KServe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Production-grade, custom scaling policy.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Testing cho AI Models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749808"/>
            <a:ext cx="5166360" cy="4023360"/>
          </a:xfrm>
          <a:prstGeom prst="rect">
            <a:avLst/>
          </a:prstGeom>
          <a:solidFill>
            <a:srgbClr val="1E2D3D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841248"/>
            <a:ext cx="4946904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hashlib, mlflow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route_request(user_id: str, pct_b: float = 0.1):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"""Route user to variant A or B deterministically."""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 = int(hashlib.md5(user_id.encode()).hexdigest(), 16)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"B" if (h % 100) &lt; (pct_b * 100) else "A"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predict(user_id: str, text: str):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variant = route_request(user_id)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   = model_b if variant == "B" else model_a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mlflow.start_run(run_id=EXPERIMENT_RUN_ID):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prediction = model.predict([text])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Log outcome for statistical analysis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mlflow.log_metric(f"click_{variant}", 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mlflow.log_metric(f"latency_{variant}", elapsed_ms)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prediction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Statistical significance check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scipy import stats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chi2, p_value = stats.chi2_contingency(contingency_table)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p_value &lt; 0.05: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print(f"Statistically significant at 95% confidence")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print(f"Winner: {'B' if ctr_b &gt; ctr_a else 'A'}")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623560" y="749808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23560" y="749808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8229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Routing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760720" y="1024128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user_id → deterministic assignment.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user luôn thấy cùng variant (consistency).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623560" y="1737360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23560" y="1737360"/>
            <a:ext cx="64008" cy="84124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1810512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60720" y="2011680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Minimum 1,000 samples/variant trước khi kết luận.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Dùng power analysis để tính trước.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23560" y="2724912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23560" y="2724912"/>
            <a:ext cx="64008" cy="8412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2798064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Significance Level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2999232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p-value &lt; 0.05 (95% confidence) để declare winner.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Corridor cho multiple comparisons: Bonferroni.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23560" y="3712464"/>
            <a:ext cx="3291840" cy="841248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23560" y="3712464"/>
            <a:ext cx="64008" cy="841248"/>
          </a:xfrm>
          <a:prstGeom prst="rect">
            <a:avLst/>
          </a:prstGeom>
          <a:solidFill>
            <a:srgbClr val="6E2F8A"/>
          </a:solidFill>
          <a:ln w="12700">
            <a:solidFill>
              <a:srgbClr val="6E2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60720" y="3785616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Selection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60720" y="3986784"/>
            <a:ext cx="310896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Primary: business KPI (CTR, revenue).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Guardrail: latency P95, error rate không được tăng.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00"/>
            <a:ext cx="109728" cy="685800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920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27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28600" y="2377440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Full CI/CD Pipeline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3063240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→ production trong 8 phút</a:t>
            </a:r>
            <a:endParaRPr lang="en-US" sz="1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Demo: Từ Code Push đến Production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77240"/>
            <a:ext cx="28346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777240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git push → GitHub Actions trigger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1216152"/>
            <a:ext cx="26517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commit lên main. GitHub Actions workflow kích hoạt tự động. Quan sát Jobs chạy trong real-time.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777240"/>
            <a:ext cx="28346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777240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DVC pull + dvc repro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0" y="1216152"/>
            <a:ext cx="26517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pull đúng data version. dvc repro chạy lại stages bị stale. Smart cache bỏ qua stages unchanged.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72200" y="777240"/>
            <a:ext cx="28346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777240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77724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Train + log MLflow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63640" y="1216152"/>
            <a:ext cx="26517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model, log params/metrics/artifacts vào MLflow. Register vào Model Registry ở stage Staging.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2743200"/>
            <a:ext cx="28346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2743200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743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Eval Gate: compare vs baseline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0040" y="3182112"/>
            <a:ext cx="26517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compare_models.py lấy Production baseline từ Registry. So sánh accuracy. Pass → tiếp tục. Fail → block deploy.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00400" y="2743200"/>
            <a:ext cx="28346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2743200"/>
            <a:ext cx="283464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743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Canary deploy: 5% → 100%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182112"/>
            <a:ext cx="26517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5% traffic. Monitor 2 phút. Nếu P99 latency và accuracy OK → rollout 100%.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72200" y="2743200"/>
            <a:ext cx="28346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72200" y="2743200"/>
            <a:ext cx="2834640" cy="38404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7432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  Simulate model regression → block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3182112"/>
            <a:ext cx="2651760" cy="12070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Cố tình degrade model. Quan sát eval gate tự động block. Zero regression lọt production.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38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74980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ý chính cần nhớ sau buổi học hôm nay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143000"/>
            <a:ext cx="850392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143000"/>
            <a:ext cx="594360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143000"/>
            <a:ext cx="594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123444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MLflow + DVC = Full Reproducibility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156362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Bất kỳ ai clone repo + dvc pull đều reproduce y hệt kết quả. MLflow track experiments, DVC track data — hai công cụ bổ sung nhau, không thay thế nhau.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377440"/>
            <a:ext cx="850392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377440"/>
            <a:ext cx="594360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377440"/>
            <a:ext cx="594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 Gate là Safety Net Quan Trọng Nhất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9806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deploy without comparing to baseline. Eval gate là lớp bảo vệ cuối cùng. Case study: 0 regression lọt production trong 6 tháng sau khi implement CI/CD.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611880"/>
            <a:ext cx="8503920" cy="10789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11880"/>
            <a:ext cx="594360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11880"/>
            <a:ext cx="59436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005840" y="37033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Canary Deployment Giảm Risk 90%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032504"/>
            <a:ext cx="76809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Big-bang release là nguồn gốc của sự cố. Invest vào gradual rollout: 5% → 25% → 50% → 100% với health checks. Rollback ngay khi metrics degrade.</a:t>
            </a:r>
            <a:endParaRPr lang="en-US" sz="11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94360"/>
            <a:ext cx="9144000" cy="50292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Ngày 22 &amp; Bài Tập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" y="49834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Giảng viên  ·  VinUniversity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4983480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AICB · Ngày 21 · CI/CD for AI Systems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983480"/>
            <a:ext cx="12344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38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8600" y="749808"/>
            <a:ext cx="4206240" cy="3200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22: LLMOps &amp; Prompt Versioning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28016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"LangSmith, Weights &amp; Biases Weave cho LLM-specific operations — prompt là code, phải version control"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148840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LangSmith: tracing, prompt hub, evaluations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W&amp;B Weave: LLM-specific experiment tracking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versioning workflow trong CI/CD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regression testing: eval suite tự động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420624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749808"/>
            <a:ext cx="4206240" cy="384048"/>
          </a:xfrm>
          <a:prstGeom prst="rect">
            <a:avLst/>
          </a:prstGeom>
          <a:solidFill>
            <a:srgbClr val="C0272D"/>
          </a:solidFill>
          <a:ln w="12700">
            <a:solidFill>
              <a:srgbClr val="C027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#21 — Bài Tập (2 giờ)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207008"/>
            <a:ext cx="397764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MLflow tracking server local (SQLite backend)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training script để log params, metrics, artifacts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 DVC với S3/GCS remote + pipeline 3 stages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Viết GitHub Actions workflow: test → train → eval → deploy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tài khoản LangSmith (free tier)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Đọc trước: LangSmith docs (tracing &amp; Prompt Hub)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4114800"/>
            <a:ext cx="8686800" cy="5943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11480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&amp; template → lms.vinuni.edu.vn  |  AICB-P2T2 Ngày 21  |  CI/CD for AI Systems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for AI Systems - Ngày 21</dc:title>
  <dc:subject>PptxGenJS Presentation</dc:subject>
  <dc:creator>PptxGenJS</dc:creator>
  <cp:lastModifiedBy>PptxGenJS</cp:lastModifiedBy>
  <cp:revision>1</cp:revision>
  <dcterms:created xsi:type="dcterms:W3CDTF">2026-05-03T17:16:41Z</dcterms:created>
  <dcterms:modified xsi:type="dcterms:W3CDTF">2026-05-03T17:16:41Z</dcterms:modified>
</cp:coreProperties>
</file>